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8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574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orient="horz" pos="2251" userDrawn="1">
          <p15:clr>
            <a:srgbClr val="A4A3A4"/>
          </p15:clr>
        </p15:guide>
        <p15:guide id="5" pos="4040" userDrawn="1">
          <p15:clr>
            <a:srgbClr val="A4A3A4"/>
          </p15:clr>
        </p15:guide>
        <p15:guide id="6" pos="1118" userDrawn="1">
          <p15:clr>
            <a:srgbClr val="A4A3A4"/>
          </p15:clr>
        </p15:guide>
        <p15:guide id="7" pos="2366" userDrawn="1">
          <p15:clr>
            <a:srgbClr val="A4A3A4"/>
          </p15:clr>
        </p15:guide>
        <p15:guide id="8" pos="4135" userDrawn="1">
          <p15:clr>
            <a:srgbClr val="A4A3A4"/>
          </p15:clr>
        </p15:guide>
        <p15:guide id="9" pos="4240" userDrawn="1">
          <p15:clr>
            <a:srgbClr val="A4A3A4"/>
          </p15:clr>
        </p15:guide>
        <p15:guide id="10" pos="4340" userDrawn="1">
          <p15:clr>
            <a:srgbClr val="A4A3A4"/>
          </p15:clr>
        </p15:guide>
        <p15:guide id="11" pos="6562" userDrawn="1">
          <p15:clr>
            <a:srgbClr val="A4A3A4"/>
          </p15:clr>
        </p15:guide>
        <p15:guide id="12" pos="6970" userDrawn="1">
          <p15:clr>
            <a:srgbClr val="A4A3A4"/>
          </p15:clr>
        </p15:guide>
        <p15:guide id="13" orient="horz" pos="2364" userDrawn="1">
          <p15:clr>
            <a:srgbClr val="A4A3A4"/>
          </p15:clr>
        </p15:guide>
        <p15:guide id="14" orient="horz" pos="2500" userDrawn="1">
          <p15:clr>
            <a:srgbClr val="A4A3A4"/>
          </p15:clr>
        </p15:guide>
        <p15:guide id="15" orient="horz" pos="2568" userDrawn="1">
          <p15:clr>
            <a:srgbClr val="A4A3A4"/>
          </p15:clr>
        </p15:guide>
        <p15:guide id="16" orient="horz" pos="2704" userDrawn="1">
          <p15:clr>
            <a:srgbClr val="A4A3A4"/>
          </p15:clr>
        </p15:guide>
        <p15:guide id="17" orient="horz" pos="2772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  <p15:guide id="19" orient="horz" pos="16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4684"/>
    <a:srgbClr val="7CA655"/>
    <a:srgbClr val="CEDF1C"/>
    <a:srgbClr val="4495A2"/>
    <a:srgbClr val="4494A2"/>
    <a:srgbClr val="5D2884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77"/>
      </p:cViewPr>
      <p:guideLst>
        <p:guide orient="horz" pos="482"/>
        <p:guide pos="574"/>
        <p:guide pos="3953"/>
        <p:guide orient="horz" pos="2251"/>
        <p:guide pos="4040"/>
        <p:guide pos="1118"/>
        <p:guide pos="2366"/>
        <p:guide pos="4135"/>
        <p:guide pos="4240"/>
        <p:guide pos="4340"/>
        <p:guide pos="6562"/>
        <p:guide pos="6970"/>
        <p:guide orient="horz" pos="2364"/>
        <p:guide orient="horz" pos="2500"/>
        <p:guide orient="horz" pos="2568"/>
        <p:guide orient="horz" pos="2704"/>
        <p:guide orient="horz" pos="2772"/>
        <p:guide orient="horz" pos="1071"/>
        <p:guide orient="horz" pos="16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307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84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BAF5DD-2A6A-488C-7514-1351884F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947956-3159-5F8A-AEB6-2BECC3E4B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DD7259-D1BE-D853-454D-F3932994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A97AA5-AE03-B581-B3FB-8C852D2F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BBD6A7-978F-6207-E173-BD21FE18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295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099470-7D1A-7CB3-CCD3-68EECA30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033CD5-7875-E9AC-57C4-17563C3A3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B439640-F31E-76CE-239A-AFD53288F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F67B4BD-4556-71A7-04AD-25FC3849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7528022-A1B3-D34D-0A37-CED4ECD3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79910EC-3F2F-9F45-5C13-04FE85CD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25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7EB994-E218-9032-24BF-E479A81D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7DE010-5C8A-B20B-9373-EEE872E6B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953BD3-1EFA-CA36-B3A8-101770972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35AC461-722F-F3CC-E946-07A558FC9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E8A2FE1-B1E6-4D89-61B7-11F0D3550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3039D7A-2D3B-3AA7-02AB-BBE356C5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41DF719-8E6B-7782-3B31-986752BF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3DA7EDC-0AEA-4644-6DFA-090F7CAE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880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A42888-F974-39E2-0480-D5B42F9D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F1F7B1-838B-6503-8344-43C48DCE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AA35914-0875-6014-7810-43644F70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D520531-4A48-3CC7-560F-8105A3D8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802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82415C7-E395-A24A-A11A-04C7EF96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64B0A50-F0C4-FA68-563B-550A6FEBF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78C0E7-2101-EAC0-C0FA-D6B85193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968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346FFA-9D06-0B40-0491-824EA485D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FF4C25-C50A-B1EA-C11B-468E2E0A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D1057D4-D488-7469-F8CD-4F40F8F23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9CA46A-7C99-0199-0677-D8FF6433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F138A6C-5842-516F-1B12-2BABBDDB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E74AEE6-D91B-9CF0-C1A2-540A7AF5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822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4C9190-0D06-AEC2-B723-2A35D2F0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4150E7E-63D8-CF8B-3CF5-844081F69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E8FDE98-5DD1-B9E9-04AF-D6AF6AE4E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6112C20-382F-3FD5-55F0-562E18F2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38C8DA-47FC-4B0A-0904-FBBBCEE7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E3A36B0-34EF-C719-F86E-3D111B62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0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C5630F-D230-7FC1-6443-8483657E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B129A70-9ACA-B7DD-4C06-26483D883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778B50-BF2B-8552-53A3-6EAFF6E5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93BAFD-DE1B-8EBF-DD2C-D05DE7C6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35E447-61A1-D0FD-A7A6-6133D077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158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855873E-1613-E20E-0992-4FFDFA11E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0A7C20-FBF1-9023-2971-CE7B6DFA0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A129E5-C1ED-2029-5DF9-400F27CD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3984B1-D10E-4D90-BA54-3118DD56F2F4}" type="datetimeFigureOut">
              <a:rPr lang="it-IT" smtClean="0"/>
              <a:t>07/09/2025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F07825-BCB1-14EC-B611-DD4F58A9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7D3B76-D763-052F-DB91-F32CD2208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53F4F5-9D5A-451F-B8D9-F12311B3CC9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61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5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DBAEDC5F-81EE-E0A0-EA7A-DAE59C52850C}"/>
              </a:ext>
            </a:extLst>
          </p:cNvPr>
          <p:cNvSpPr txBox="1">
            <a:spLocks/>
          </p:cNvSpPr>
          <p:nvPr/>
        </p:nvSpPr>
        <p:spPr>
          <a:xfrm>
            <a:off x="5905500" y="381000"/>
            <a:ext cx="5486400" cy="32918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it-IT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latin typeface="Franklin Gothic Demi" panose="020B0703020102020204" pitchFamily="34" charset="0"/>
              </a:rPr>
              <a:t>MOR </a:t>
            </a:r>
            <a:r>
              <a:rPr lang="it-IT" b="1" dirty="0" err="1">
                <a:latin typeface="Franklin Gothic Demi" panose="020B0703020102020204" pitchFamily="34" charset="0"/>
              </a:rPr>
              <a:t>methods</a:t>
            </a:r>
            <a:r>
              <a:rPr lang="it-IT" b="1" dirty="0">
                <a:latin typeface="Franklin Gothic Demi" panose="020B0703020102020204" pitchFamily="34" charset="0"/>
              </a:rPr>
              <a:t> for </a:t>
            </a:r>
            <a:r>
              <a:rPr lang="it-IT" b="1" dirty="0" err="1">
                <a:latin typeface="Franklin Gothic Demi" panose="020B0703020102020204" pitchFamily="34" charset="0"/>
              </a:rPr>
              <a:t>nonlinear</a:t>
            </a:r>
            <a:r>
              <a:rPr lang="it-IT" b="1" dirty="0">
                <a:latin typeface="Franklin Gothic Demi" panose="020B0703020102020204" pitchFamily="34" charset="0"/>
              </a:rPr>
              <a:t> </a:t>
            </a:r>
            <a:r>
              <a:rPr lang="it-IT" b="1" dirty="0" err="1">
                <a:latin typeface="Franklin Gothic Demi" panose="020B0703020102020204" pitchFamily="34" charset="0"/>
              </a:rPr>
              <a:t>Elliptic</a:t>
            </a:r>
            <a:r>
              <a:rPr lang="it-IT" b="1" dirty="0">
                <a:latin typeface="Franklin Gothic Demi" panose="020B0703020102020204" pitchFamily="34" charset="0"/>
              </a:rPr>
              <a:t> </a:t>
            </a:r>
            <a:r>
              <a:rPr lang="it-IT" b="1" dirty="0" err="1">
                <a:latin typeface="Franklin Gothic Demi" panose="020B0703020102020204" pitchFamily="34" charset="0"/>
              </a:rPr>
              <a:t>problem</a:t>
            </a:r>
            <a:endParaRPr lang="it-IT" b="1" dirty="0">
              <a:latin typeface="Franklin Gothic Demi" panose="020B070302010202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EC87EC5-FD38-2829-83E5-72DEFFA085F7}"/>
              </a:ext>
            </a:extLst>
          </p:cNvPr>
          <p:cNvSpPr/>
          <p:nvPr/>
        </p:nvSpPr>
        <p:spPr>
          <a:xfrm>
            <a:off x="5905500" y="3900197"/>
            <a:ext cx="2548035" cy="102636"/>
          </a:xfrm>
          <a:prstGeom prst="rect">
            <a:avLst/>
          </a:prstGeom>
          <a:solidFill>
            <a:srgbClr val="3B4684"/>
          </a:solidFill>
          <a:ln>
            <a:solidFill>
              <a:srgbClr val="3B46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C6897D-22EB-3784-8707-BB0422A9AAA3}"/>
              </a:ext>
            </a:extLst>
          </p:cNvPr>
          <p:cNvSpPr txBox="1"/>
          <p:nvPr/>
        </p:nvSpPr>
        <p:spPr>
          <a:xfrm>
            <a:off x="769948" y="642956"/>
            <a:ext cx="2499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Franklin Gothic Book" panose="020B0503020102020204" pitchFamily="34" charset="0"/>
              </a:rPr>
              <a:t>Model Order </a:t>
            </a:r>
            <a:r>
              <a:rPr lang="it-IT" dirty="0" err="1">
                <a:latin typeface="Franklin Gothic Book" panose="020B0503020102020204" pitchFamily="34" charset="0"/>
              </a:rPr>
              <a:t>Reduction</a:t>
            </a:r>
            <a:r>
              <a:rPr lang="it-IT" dirty="0">
                <a:latin typeface="Franklin Gothic Book" panose="020B0503020102020204" pitchFamily="34" charset="0"/>
              </a:rPr>
              <a:t> </a:t>
            </a:r>
          </a:p>
          <a:p>
            <a:pPr algn="ctr"/>
            <a:r>
              <a:rPr lang="it-IT" dirty="0">
                <a:latin typeface="Franklin Gothic Book" panose="020B0503020102020204" pitchFamily="34" charset="0"/>
              </a:rPr>
              <a:t>and </a:t>
            </a:r>
          </a:p>
          <a:p>
            <a:pPr algn="ctr"/>
            <a:r>
              <a:rPr lang="it-IT" dirty="0">
                <a:latin typeface="Franklin Gothic Book" panose="020B0503020102020204" pitchFamily="34" charset="0"/>
              </a:rPr>
              <a:t>Machine Learning</a:t>
            </a:r>
          </a:p>
          <a:p>
            <a:pPr algn="ctr"/>
            <a:r>
              <a:rPr lang="it-IT" dirty="0" err="1">
                <a:latin typeface="Franklin Gothic Book" panose="020B0503020102020204" pitchFamily="34" charset="0"/>
              </a:rPr>
              <a:t>a.a</a:t>
            </a:r>
            <a:r>
              <a:rPr lang="it-IT" dirty="0">
                <a:latin typeface="Franklin Gothic Book" panose="020B0503020102020204" pitchFamily="34" charset="0"/>
              </a:rPr>
              <a:t>. 2024-2025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00531AD-F66A-58BF-F0C4-A6C832C46D1D}"/>
              </a:ext>
            </a:extLst>
          </p:cNvPr>
          <p:cNvSpPr txBox="1"/>
          <p:nvPr/>
        </p:nvSpPr>
        <p:spPr>
          <a:xfrm>
            <a:off x="8453535" y="5631807"/>
            <a:ext cx="33574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dirty="0">
                <a:latin typeface="Franklin Gothic Book" panose="020B0503020102020204" pitchFamily="34" charset="0"/>
              </a:rPr>
              <a:t>Maddalena Ghiotti s332834</a:t>
            </a:r>
          </a:p>
          <a:p>
            <a:pPr algn="r"/>
            <a:r>
              <a:rPr lang="it-IT" dirty="0">
                <a:latin typeface="Franklin Gothic Book" panose="020B0503020102020204" pitchFamily="34" charset="0"/>
              </a:rPr>
              <a:t>Valerio Taralli s332689</a:t>
            </a:r>
          </a:p>
          <a:p>
            <a:pPr algn="r"/>
            <a:r>
              <a:rPr lang="it-IT" dirty="0">
                <a:latin typeface="Franklin Gothic Book" panose="020B0503020102020204" pitchFamily="34" charset="0"/>
              </a:rPr>
              <a:t>Gaia Saroglia s332687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C6A24AB-0E4D-E1B7-1F59-027DDB8929AA}"/>
              </a:ext>
            </a:extLst>
          </p:cNvPr>
          <p:cNvSpPr txBox="1"/>
          <p:nvPr/>
        </p:nvSpPr>
        <p:spPr>
          <a:xfrm>
            <a:off x="5844850" y="3643738"/>
            <a:ext cx="2669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September</a:t>
            </a:r>
            <a:r>
              <a:rPr lang="it-IT" sz="1400" dirty="0"/>
              <a:t> </a:t>
            </a:r>
            <a:r>
              <a:rPr lang="it-IT" sz="1400" dirty="0">
                <a:latin typeface="Franklin Gothic Book" panose="020B0503020102020204" pitchFamily="34" charset="0"/>
              </a:rPr>
              <a:t>12</a:t>
            </a:r>
            <a:r>
              <a:rPr lang="it-IT" sz="1400" dirty="0"/>
              <a:t>, 2025</a:t>
            </a: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835645BB-45E3-4857-0E04-8B3205B2636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149646" y="729342"/>
            <a:ext cx="6501198" cy="7792076"/>
            <a:chOff x="-1149646" y="729342"/>
            <a:chExt cx="6501198" cy="7792076"/>
          </a:xfrm>
        </p:grpSpPr>
        <p:pic>
          <p:nvPicPr>
            <p:cNvPr id="14" name="Immagine 13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DE107239-5BCC-3E74-F0AE-7060945BC90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5" name="Immagine 14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02A02046-AED6-6F6C-A557-CD75B0A94A8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2605C72F-B77D-A86A-042F-2C407C80C6D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6" name="Immagine 15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9D21862D-01D7-A8E7-8D37-DFCEF017C2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7" name="Immagine 16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25CE501A-DCEE-8335-A5EF-ABE6E2929A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4949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3FC445D6-076B-8DE3-67FA-0601BE88BB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1054" y="278129"/>
            <a:ext cx="9778365" cy="1494596"/>
          </a:xfrm>
          <a:prstGeom prst="rect">
            <a:avLst/>
          </a:prstGeo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b="1" dirty="0" err="1">
                <a:latin typeface="Franklin Gothic Demi" panose="020B0703020102020204" pitchFamily="34" charset="0"/>
              </a:rPr>
              <a:t>Problem</a:t>
            </a:r>
            <a:r>
              <a:rPr lang="it-IT" b="1" dirty="0">
                <a:latin typeface="Franklin Gothic Demi" panose="020B0703020102020204" pitchFamily="34" charset="0"/>
              </a:rPr>
              <a:t>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testo 2">
                <a:extLst>
                  <a:ext uri="{FF2B5EF4-FFF2-40B4-BE49-F238E27FC236}">
                    <a16:creationId xmlns:a16="http://schemas.microsoft.com/office/drawing/2014/main" id="{F09CBBDE-025F-5DF9-9BD6-6BE756C748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58" y="2676525"/>
                <a:ext cx="5049357" cy="3597470"/>
              </a:xfrm>
              <a:prstGeom prst="rect">
                <a:avLst/>
              </a:prstGeom>
            </p:spPr>
            <p:txBody>
              <a:bodyPr tIns="457200" rtlCol="0">
                <a:normAutofit/>
              </a:bodyPr>
              <a:lstStyle>
                <a:defPPr>
                  <a:defRPr lang="it-IT"/>
                </a:defPPr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t-IT" sz="2000" dirty="0">
                    <a:latin typeface="Franklin Gothic Book" panose="020B0503020102020204" pitchFamily="34" charset="0"/>
                  </a:rPr>
                  <a:t>PDE: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it-IT" sz="200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p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0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p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p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2000" dirty="0">
                  <a:latin typeface="Franklin Gothic Book" panose="020B0503020102020204" pitchFamily="34" charset="0"/>
                </a:endParaRPr>
              </a:p>
              <a:p>
                <a:r>
                  <a:rPr lang="it-IT" sz="2000" dirty="0">
                    <a:latin typeface="Franklin Gothic Book" panose="020B0503020102020204" pitchFamily="34" charset="0"/>
                  </a:rPr>
                  <a:t>Two </a:t>
                </a:r>
                <a:r>
                  <a:rPr lang="it-IT" sz="2000" dirty="0" err="1">
                    <a:latin typeface="Franklin Gothic Book" panose="020B0503020102020204" pitchFamily="34" charset="0"/>
                  </a:rPr>
                  <a:t>cases</a:t>
                </a:r>
                <a:r>
                  <a:rPr lang="it-IT" sz="2000" dirty="0">
                    <a:latin typeface="Franklin Gothic Book" panose="020B0503020102020204" pitchFamily="34" charset="0"/>
                  </a:rPr>
                  <a:t> for source </a:t>
                </a:r>
                <a:r>
                  <a:rPr lang="it-IT" sz="2000" dirty="0" err="1">
                    <a:latin typeface="Franklin Gothic Book" panose="020B0503020102020204" pitchFamily="34" charset="0"/>
                  </a:rPr>
                  <a:t>term</a:t>
                </a:r>
                <a:r>
                  <a:rPr lang="it-IT" sz="2000" dirty="0">
                    <a:latin typeface="Franklin Gothic Book" panose="020B0503020102020204" pitchFamily="34" charset="0"/>
                  </a:rPr>
                  <a:t>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m:rPr>
                        <m:aln/>
                      </m:rPr>
                      <a:rPr lang="es-ES" sz="18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100</m:t>
                    </m:r>
                    <m:func>
                      <m:func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sz="1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func>
                      <m:func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sz="1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it-IT" sz="1600" dirty="0">
                  <a:latin typeface="Franklin Gothic Book" panose="020B0503020102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≡100</m:t>
                    </m:r>
                    <m:func>
                      <m:func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1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func>
                      <m:func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1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it-IT" sz="1600" dirty="0">
                  <a:latin typeface="Franklin Gothic Book" panose="020B0503020102020204" pitchFamily="34" charset="0"/>
                </a:endParaRPr>
              </a:p>
              <a:p>
                <a:r>
                  <a:rPr lang="it-IT" sz="2000" dirty="0">
                    <a:latin typeface="Franklin Gothic Book" panose="020B0503020102020204" pitchFamily="34" charset="0"/>
                  </a:rPr>
                  <a:t>Domain: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2000" dirty="0">
                  <a:latin typeface="Franklin Gothic Book" panose="020B0503020102020204" pitchFamily="34" charset="0"/>
                </a:endParaRPr>
              </a:p>
              <a:p>
                <a:r>
                  <a:rPr lang="it-IT" sz="2000" dirty="0" err="1">
                    <a:latin typeface="Franklin Gothic Book" panose="020B0503020102020204" pitchFamily="34" charset="0"/>
                  </a:rPr>
                  <a:t>Boundary</a:t>
                </a:r>
                <a:r>
                  <a:rPr lang="it-IT" sz="2000" dirty="0">
                    <a:latin typeface="Franklin Gothic Book" panose="020B0503020102020204" pitchFamily="34" charset="0"/>
                  </a:rPr>
                  <a:t> </a:t>
                </a:r>
                <a:r>
                  <a:rPr lang="it-IT" sz="2000" dirty="0" err="1">
                    <a:latin typeface="Franklin Gothic Book" panose="020B0503020102020204" pitchFamily="34" charset="0"/>
                  </a:rPr>
                  <a:t>conditions</a:t>
                </a:r>
                <a:r>
                  <a:rPr lang="it-IT" sz="2000" dirty="0">
                    <a:latin typeface="Franklin Gothic Book" panose="020B0503020102020204" pitchFamily="34" charset="0"/>
                  </a:rPr>
                  <a:t>: </a:t>
                </a:r>
                <a:r>
                  <a:rPr lang="it-IT" sz="18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homogeneus</a:t>
                </a:r>
                <a:r>
                  <a:rPr lang="it-IT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it-IT" sz="18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Dirichlet</a:t>
                </a:r>
                <a:endParaRPr lang="it-IT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sz="2000" dirty="0">
                  <a:latin typeface="Franklin Gothic Book" panose="020B0503020102020204" pitchFamily="34" charset="0"/>
                </a:endParaRPr>
              </a:p>
            </p:txBody>
          </p:sp>
        </mc:Choice>
        <mc:Fallback xmlns="">
          <p:sp>
            <p:nvSpPr>
              <p:cNvPr id="5" name="Segnaposto testo 2">
                <a:extLst>
                  <a:ext uri="{FF2B5EF4-FFF2-40B4-BE49-F238E27FC236}">
                    <a16:creationId xmlns:a16="http://schemas.microsoft.com/office/drawing/2014/main" id="{F09CBBDE-025F-5DF9-9BD6-6BE756C7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8" y="2676525"/>
                <a:ext cx="5049357" cy="3597470"/>
              </a:xfrm>
              <a:prstGeom prst="rect">
                <a:avLst/>
              </a:prstGeo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77E5A91B-B492-EB86-2E64-8835ABE9B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6" t="2372" r="11694" b="9962"/>
          <a:stretch>
            <a:fillRect/>
          </a:stretch>
        </p:blipFill>
        <p:spPr>
          <a:xfrm>
            <a:off x="7106815" y="2520122"/>
            <a:ext cx="3261728" cy="3168000"/>
          </a:xfrm>
          <a:prstGeom prst="rect">
            <a:avLst/>
          </a:prstGeom>
          <a:noFill/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23C55664-5167-0E01-EB8D-AE890082EE8B}"/>
              </a:ext>
            </a:extLst>
          </p:cNvPr>
          <p:cNvSpPr/>
          <p:nvPr/>
        </p:nvSpPr>
        <p:spPr>
          <a:xfrm>
            <a:off x="594360" y="2090056"/>
            <a:ext cx="2169861" cy="119743"/>
          </a:xfrm>
          <a:prstGeom prst="rect">
            <a:avLst/>
          </a:prstGeom>
          <a:solidFill>
            <a:srgbClr val="3B4684"/>
          </a:solidFill>
          <a:ln>
            <a:solidFill>
              <a:srgbClr val="3B46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F84C75C-7BD1-7C89-2DEE-67622E159B97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10800000">
            <a:off x="9256466" y="-926120"/>
            <a:ext cx="3574289" cy="4284000"/>
            <a:chOff x="-1149646" y="729342"/>
            <a:chExt cx="6501198" cy="7792076"/>
          </a:xfrm>
        </p:grpSpPr>
        <p:pic>
          <p:nvPicPr>
            <p:cNvPr id="15" name="Immagine 14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3C3193F1-105B-D9B0-5FF5-21CEFFF6BF4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6" name="Immagine 15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A5BD0D6B-D504-FA9F-602F-EB8A304E774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FDEB1168-62D4-4754-CAC3-E7642F84543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8" name="Immagine 17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184FB8A8-A416-BB53-FC48-DBF5973726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9" name="Immagine 18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F44BB1BA-6C9C-D93F-A8C7-C66F0DA4D4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30194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2">
            <a:extLst>
              <a:ext uri="{FF2B5EF4-FFF2-40B4-BE49-F238E27FC236}">
                <a16:creationId xmlns:a16="http://schemas.microsoft.com/office/drawing/2014/main" id="{AF4A2A65-A88E-2E1D-A0E1-528CC4B013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1054" y="102875"/>
            <a:ext cx="10873740" cy="1680205"/>
          </a:xfrm>
          <a:prstGeom prst="rect">
            <a:avLst/>
          </a:prstGeom>
        </p:spPr>
        <p:txBody>
          <a:bodyPr rtlCol="0" anchor="b">
            <a:normAutofit fontScale="90000"/>
          </a:bodyPr>
          <a:lstStyle>
            <a:defPPr>
              <a:defRPr lang="it-IT"/>
            </a:defPPr>
          </a:lstStyle>
          <a:p>
            <a:pPr>
              <a:lnSpc>
                <a:spcPct val="300000"/>
              </a:lnSpc>
            </a:pPr>
            <a:r>
              <a:rPr lang="it-IT" b="1" dirty="0" err="1">
                <a:latin typeface="Franklin Gothic Demi" panose="020B0703020102020204" pitchFamily="34" charset="0"/>
              </a:rPr>
              <a:t>Motivation</a:t>
            </a:r>
            <a:r>
              <a:rPr lang="it-IT" b="1" dirty="0">
                <a:latin typeface="Franklin Gothic Demi" panose="020B0703020102020204" pitchFamily="34" charset="0"/>
              </a:rPr>
              <a:t> &amp; Goal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9466A562-6ABA-369A-5CE3-CB2BDBE389DA}"/>
              </a:ext>
            </a:extLst>
          </p:cNvPr>
          <p:cNvSpPr txBox="1">
            <a:spLocks/>
          </p:cNvSpPr>
          <p:nvPr/>
        </p:nvSpPr>
        <p:spPr>
          <a:xfrm>
            <a:off x="7395842" y="3766188"/>
            <a:ext cx="4373370" cy="1616075"/>
          </a:xfrm>
          <a:prstGeom prst="rect">
            <a:avLst/>
          </a:prstGeom>
        </p:spPr>
        <p:txBody>
          <a:bodyPr rtlCol="0">
            <a:normAutofit fontScale="55000" lnSpcReduction="20000"/>
          </a:bodyPr>
          <a:lstStyle>
            <a:defPPr>
              <a:defRPr lang="it-IT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atin typeface="Franklin Gothic Book" panose="020B0503020102020204" pitchFamily="34" charset="0"/>
              </a:rPr>
              <a:t>Goal:</a:t>
            </a:r>
          </a:p>
          <a:p>
            <a:pPr marL="0" indent="0">
              <a:buNone/>
            </a:pPr>
            <a:r>
              <a:rPr lang="en-US" sz="3600" dirty="0">
                <a:latin typeface="Franklin Gothic Book" panose="020B0503020102020204" pitchFamily="34" charset="0"/>
              </a:rPr>
              <a:t>Compare </a:t>
            </a:r>
            <a:r>
              <a:rPr lang="en-US" sz="3600" b="1" dirty="0">
                <a:latin typeface="Franklin Gothic Book" panose="020B0503020102020204" pitchFamily="34" charset="0"/>
              </a:rPr>
              <a:t>POD</a:t>
            </a:r>
            <a:r>
              <a:rPr lang="en-US" sz="3600" dirty="0">
                <a:latin typeface="Franklin Gothic Book" panose="020B0503020102020204" pitchFamily="34" charset="0"/>
              </a:rPr>
              <a:t>-</a:t>
            </a:r>
            <a:r>
              <a:rPr lang="en-US" sz="3600" dirty="0" err="1">
                <a:latin typeface="Franklin Gothic Book" panose="020B0503020102020204" pitchFamily="34" charset="0"/>
              </a:rPr>
              <a:t>Galerkin</a:t>
            </a:r>
            <a:r>
              <a:rPr lang="en-US" sz="3600" dirty="0">
                <a:latin typeface="Franklin Gothic Book" panose="020B0503020102020204" pitchFamily="34" charset="0"/>
              </a:rPr>
              <a:t>, </a:t>
            </a:r>
            <a:r>
              <a:rPr lang="en-US" sz="3600" b="1" dirty="0">
                <a:latin typeface="Franklin Gothic Book" panose="020B0503020102020204" pitchFamily="34" charset="0"/>
              </a:rPr>
              <a:t>PINN</a:t>
            </a:r>
            <a:r>
              <a:rPr lang="en-US" sz="3600" dirty="0">
                <a:latin typeface="Franklin Gothic Book" panose="020B0503020102020204" pitchFamily="34" charset="0"/>
              </a:rPr>
              <a:t>, </a:t>
            </a:r>
            <a:r>
              <a:rPr lang="en-US" sz="3600" b="1" dirty="0">
                <a:latin typeface="Franklin Gothic Book" panose="020B0503020102020204" pitchFamily="34" charset="0"/>
              </a:rPr>
              <a:t>POD-NN</a:t>
            </a:r>
            <a:r>
              <a:rPr lang="en-US" sz="3600" dirty="0">
                <a:latin typeface="Franklin Gothic Book" panose="020B0503020102020204" pitchFamily="34" charset="0"/>
              </a:rPr>
              <a:t> vs </a:t>
            </a:r>
            <a:r>
              <a:rPr lang="en-US" sz="3600" b="1" dirty="0">
                <a:latin typeface="Franklin Gothic Book" panose="020B0503020102020204" pitchFamily="34" charset="0"/>
              </a:rPr>
              <a:t>FOM</a:t>
            </a:r>
            <a:r>
              <a:rPr lang="en-US" sz="3600" dirty="0">
                <a:latin typeface="Franklin Gothic Book" panose="020B0503020102020204" pitchFamily="34" charset="0"/>
              </a:rPr>
              <a:t> in terms of</a:t>
            </a:r>
          </a:p>
          <a:p>
            <a:pPr algn="r">
              <a:lnSpc>
                <a:spcPct val="150000"/>
              </a:lnSpc>
            </a:pPr>
            <a:r>
              <a:rPr lang="en-US" sz="3200" i="1" dirty="0">
                <a:latin typeface="Franklin Gothic Book" panose="020B0503020102020204" pitchFamily="34" charset="0"/>
              </a:rPr>
              <a:t>Accuracy</a:t>
            </a:r>
            <a:r>
              <a:rPr lang="en-US" sz="3200" dirty="0">
                <a:latin typeface="Franklin Gothic Book" panose="020B0503020102020204" pitchFamily="34" charset="0"/>
              </a:rPr>
              <a:t> (absolute &amp; relative errors)</a:t>
            </a:r>
          </a:p>
          <a:p>
            <a:pPr algn="r">
              <a:spcBef>
                <a:spcPts val="300"/>
              </a:spcBef>
            </a:pPr>
            <a:r>
              <a:rPr lang="en-US" sz="3200" i="1" dirty="0">
                <a:latin typeface="Franklin Gothic Book" panose="020B0503020102020204" pitchFamily="34" charset="0"/>
              </a:rPr>
              <a:t>Computational efficiency </a:t>
            </a:r>
            <a:r>
              <a:rPr lang="en-US" sz="3200" dirty="0">
                <a:latin typeface="Franklin Gothic Book" panose="020B0503020102020204" pitchFamily="34" charset="0"/>
              </a:rPr>
              <a:t>(speed-up)</a:t>
            </a:r>
          </a:p>
          <a:p>
            <a:pPr marL="457200" lvl="1" indent="0" algn="r">
              <a:buNone/>
            </a:pPr>
            <a:endParaRPr lang="en-US" sz="3200" dirty="0">
              <a:latin typeface="Franklin Gothic Book" panose="020B0503020102020204" pitchFamily="34" charset="0"/>
            </a:endParaRPr>
          </a:p>
          <a:p>
            <a:pPr marL="0" indent="0" algn="r">
              <a:buNone/>
            </a:pP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3945748-2C9B-CEDB-CE43-5D5B1AA20B2B}"/>
              </a:ext>
            </a:extLst>
          </p:cNvPr>
          <p:cNvSpPr/>
          <p:nvPr/>
        </p:nvSpPr>
        <p:spPr>
          <a:xfrm>
            <a:off x="594360" y="2099388"/>
            <a:ext cx="2169861" cy="110412"/>
          </a:xfrm>
          <a:prstGeom prst="rect">
            <a:avLst/>
          </a:prstGeom>
          <a:solidFill>
            <a:srgbClr val="3B4684"/>
          </a:solidFill>
          <a:ln>
            <a:solidFill>
              <a:srgbClr val="3B46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D9FE0EDC-31EA-0C53-7501-8172408655EF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-638136" y="3486150"/>
            <a:ext cx="3574289" cy="4284000"/>
            <a:chOff x="-1149646" y="729342"/>
            <a:chExt cx="6501198" cy="7792076"/>
          </a:xfrm>
        </p:grpSpPr>
        <p:pic>
          <p:nvPicPr>
            <p:cNvPr id="8" name="Immagine 7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E2F16A99-F9C3-FD45-5208-DB26C8DD09C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9" name="Immagine 8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976F67EB-E4D8-F5A9-3A27-E1389BAD8FF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1834A555-0666-B2FF-1195-EA627D0E4F4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1" name="Immagine 10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59A11941-1483-4B94-9828-779B795F1E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2" name="Immagine 11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650B34F4-0CAE-46C4-FA63-A089B0A045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BE07623-980F-8250-CA76-191FF8358CFD}"/>
              </a:ext>
            </a:extLst>
          </p:cNvPr>
          <p:cNvSpPr txBox="1"/>
          <p:nvPr/>
        </p:nvSpPr>
        <p:spPr>
          <a:xfrm>
            <a:off x="1437524" y="3528237"/>
            <a:ext cx="4496824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Franklin Gothic Book" panose="020B0503020102020204" pitchFamily="34" charset="0"/>
              </a:rPr>
              <a:t>Motivation</a:t>
            </a:r>
            <a:r>
              <a:rPr lang="en-US" sz="2400" dirty="0">
                <a:latin typeface="Franklin Gothic Book" panose="020B05030201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Franklin Gothic Book" panose="020B0503020102020204" pitchFamily="34" charset="0"/>
              </a:rPr>
              <a:t>FOM</a:t>
            </a:r>
            <a:r>
              <a:rPr lang="en-US" sz="2000" dirty="0">
                <a:latin typeface="Franklin Gothic Book" panose="020B0503020102020204" pitchFamily="34" charset="0"/>
              </a:rPr>
              <a:t> (FEM) is accurate but expensive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Franklin Gothic Book" panose="020B0503020102020204" pitchFamily="34" charset="0"/>
              </a:rPr>
              <a:t>Need Model Order Reduction (</a:t>
            </a:r>
            <a:r>
              <a:rPr lang="en-US" sz="2000" b="1" dirty="0">
                <a:latin typeface="Franklin Gothic Book" panose="020B0503020102020204" pitchFamily="34" charset="0"/>
              </a:rPr>
              <a:t>MOR</a:t>
            </a:r>
            <a:r>
              <a:rPr lang="en-US" sz="2000" dirty="0">
                <a:latin typeface="Franklin Gothic Book" panose="020B0503020102020204" pitchFamily="34" charset="0"/>
              </a:rPr>
              <a:t>) to reduce costs</a:t>
            </a:r>
            <a:endParaRPr lang="it-IT" dirty="0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D4D0B59-68A0-FDEE-3845-818B72880FE6}"/>
              </a:ext>
            </a:extLst>
          </p:cNvPr>
          <p:cNvCxnSpPr>
            <a:cxnSpLocks/>
          </p:cNvCxnSpPr>
          <p:nvPr/>
        </p:nvCxnSpPr>
        <p:spPr>
          <a:xfrm>
            <a:off x="5836336" y="4618367"/>
            <a:ext cx="1465210" cy="203"/>
          </a:xfrm>
          <a:prstGeom prst="straightConnector1">
            <a:avLst/>
          </a:prstGeom>
          <a:ln>
            <a:solidFill>
              <a:srgbClr val="3B46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magine 17" descr="Immagine che contiene schermata, modello, Policromia&#10;&#10;Il contenuto generato dall'IA potrebbe non essere corretto.">
            <a:extLst>
              <a:ext uri="{FF2B5EF4-FFF2-40B4-BE49-F238E27FC236}">
                <a16:creationId xmlns:a16="http://schemas.microsoft.com/office/drawing/2014/main" id="{9DBA219E-AB28-7E40-E047-3A3B4F380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348" y="741814"/>
            <a:ext cx="1910799" cy="1925311"/>
          </a:xfrm>
          <a:prstGeom prst="rect">
            <a:avLst/>
          </a:prstGeom>
        </p:spPr>
      </p:pic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DA8048CF-C2CC-9215-8390-5D12CA13567D}"/>
              </a:ext>
            </a:extLst>
          </p:cNvPr>
          <p:cNvSpPr/>
          <p:nvPr/>
        </p:nvSpPr>
        <p:spPr>
          <a:xfrm>
            <a:off x="8019909" y="1455233"/>
            <a:ext cx="1111250" cy="524040"/>
          </a:xfrm>
          <a:prstGeom prst="rightArrow">
            <a:avLst/>
          </a:prstGeom>
          <a:solidFill>
            <a:srgbClr val="3B46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7B8AFA7-F237-82D7-43C8-1A816C9BF549}"/>
              </a:ext>
            </a:extLst>
          </p:cNvPr>
          <p:cNvSpPr txBox="1"/>
          <p:nvPr/>
        </p:nvSpPr>
        <p:spPr>
          <a:xfrm>
            <a:off x="8068455" y="1503091"/>
            <a:ext cx="107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Franklin Gothic Book" panose="020B0503020102020204" pitchFamily="34" charset="0"/>
              </a:rPr>
              <a:t>reduce</a:t>
            </a:r>
          </a:p>
        </p:txBody>
      </p:sp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FC013DB8-34FA-4DEA-00D3-3058BA4450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935991"/>
              </p:ext>
            </p:extLst>
          </p:nvPr>
        </p:nvGraphicFramePr>
        <p:xfrm>
          <a:off x="9305925" y="1143953"/>
          <a:ext cx="1111250" cy="111252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4204842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POD</a:t>
                      </a:r>
                      <a:endParaRPr lang="it-IT" b="0" dirty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4495A2">
                            <a:tint val="66000"/>
                            <a:satMod val="160000"/>
                          </a:srgbClr>
                        </a:gs>
                        <a:gs pos="50000">
                          <a:srgbClr val="4495A2">
                            <a:tint val="44500"/>
                            <a:satMod val="160000"/>
                          </a:srgbClr>
                        </a:gs>
                        <a:gs pos="100000">
                          <a:srgbClr val="4495A2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4717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PINN</a:t>
                      </a:r>
                      <a:endParaRPr lang="it-IT" dirty="0">
                        <a:latin typeface="Franklin Gothic Book" panose="020B0503020102020204" pitchFamily="34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CEDF1C">
                            <a:tint val="66000"/>
                            <a:satMod val="160000"/>
                          </a:srgbClr>
                        </a:gs>
                        <a:gs pos="50000">
                          <a:srgbClr val="CEDF1C">
                            <a:tint val="44500"/>
                            <a:satMod val="160000"/>
                          </a:srgbClr>
                        </a:gs>
                        <a:gs pos="100000">
                          <a:srgbClr val="CEDF1C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5980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POD-NN</a:t>
                      </a:r>
                      <a:endParaRPr lang="it-IT" dirty="0">
                        <a:latin typeface="Franklin Gothic Book" panose="020B0503020102020204" pitchFamily="34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7CA655">
                            <a:tint val="66000"/>
                            <a:satMod val="160000"/>
                          </a:srgbClr>
                        </a:gs>
                        <a:gs pos="50000">
                          <a:srgbClr val="7CA655">
                            <a:tint val="44500"/>
                            <a:satMod val="160000"/>
                          </a:srgbClr>
                        </a:gs>
                        <a:gs pos="100000">
                          <a:srgbClr val="7CA655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05185460"/>
                  </a:ext>
                </a:extLst>
              </a:tr>
            </a:tbl>
          </a:graphicData>
        </a:graphic>
      </p:graphicFrame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6F70BCF0-420E-DC4B-F36A-6966BC76C1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660382"/>
              </p:ext>
            </p:extLst>
          </p:nvPr>
        </p:nvGraphicFramePr>
        <p:xfrm>
          <a:off x="9305924" y="1520526"/>
          <a:ext cx="1108309" cy="365760"/>
        </p:xfrm>
        <a:graphic>
          <a:graphicData uri="http://schemas.openxmlformats.org/drawingml/2006/table">
            <a:tbl>
              <a:tblPr/>
              <a:tblGrid>
                <a:gridCol w="1108309">
                  <a:extLst>
                    <a:ext uri="{9D8B030D-6E8A-4147-A177-3AD203B41FA5}">
                      <a16:colId xmlns:a16="http://schemas.microsoft.com/office/drawing/2014/main" val="2469345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mpd="sng">
                      <a:solidFill>
                        <a:srgbClr val="CEDF1C"/>
                      </a:solidFill>
                      <a:prstDash val="solid"/>
                    </a:lnL>
                    <a:lnR w="12700" cmpd="sng">
                      <a:solidFill>
                        <a:srgbClr val="CEDF1C"/>
                      </a:solidFill>
                      <a:prstDash val="solid"/>
                    </a:lnR>
                    <a:lnT w="12700" cmpd="sng">
                      <a:solidFill>
                        <a:srgbClr val="CEDF1C"/>
                      </a:solidFill>
                      <a:prstDash val="solid"/>
                    </a:lnT>
                    <a:lnB w="12700" cap="flat" cmpd="sng" algn="ctr">
                      <a:solidFill>
                        <a:srgbClr val="7CA6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73512"/>
                  </a:ext>
                </a:extLst>
              </a:tr>
            </a:tbl>
          </a:graphicData>
        </a:graphic>
      </p:graphicFrame>
      <p:graphicFrame>
        <p:nvGraphicFramePr>
          <p:cNvPr id="23" name="Tabella 22">
            <a:extLst>
              <a:ext uri="{FF2B5EF4-FFF2-40B4-BE49-F238E27FC236}">
                <a16:creationId xmlns:a16="http://schemas.microsoft.com/office/drawing/2014/main" id="{0C221A5E-D93E-898F-048B-D6B80655BB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1937508"/>
              </p:ext>
            </p:extLst>
          </p:nvPr>
        </p:nvGraphicFramePr>
        <p:xfrm>
          <a:off x="9305923" y="1885303"/>
          <a:ext cx="1108309" cy="372153"/>
        </p:xfrm>
        <a:graphic>
          <a:graphicData uri="http://schemas.openxmlformats.org/drawingml/2006/table">
            <a:tbl>
              <a:tblPr/>
              <a:tblGrid>
                <a:gridCol w="1108309">
                  <a:extLst>
                    <a:ext uri="{9D8B030D-6E8A-4147-A177-3AD203B41FA5}">
                      <a16:colId xmlns:a16="http://schemas.microsoft.com/office/drawing/2014/main" val="269757780"/>
                    </a:ext>
                  </a:extLst>
                </a:gridCol>
              </a:tblGrid>
              <a:tr h="372153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mpd="sng">
                      <a:solidFill>
                        <a:srgbClr val="7CA655"/>
                      </a:solidFill>
                      <a:prstDash val="solid"/>
                    </a:lnL>
                    <a:lnR w="12700" cmpd="sng">
                      <a:solidFill>
                        <a:srgbClr val="7CA655"/>
                      </a:solidFill>
                      <a:prstDash val="solid"/>
                    </a:lnR>
                    <a:lnT w="12700" cmpd="sng">
                      <a:solidFill>
                        <a:srgbClr val="7CA655"/>
                      </a:solidFill>
                      <a:prstDash val="solid"/>
                    </a:lnT>
                    <a:lnB w="12700" cmpd="sng">
                      <a:solidFill>
                        <a:srgbClr val="7CA65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929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876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E87C1F43-3636-569D-CDFC-C8136997EA40}"/>
              </a:ext>
            </a:extLst>
          </p:cNvPr>
          <p:cNvSpPr txBox="1">
            <a:spLocks/>
          </p:cNvSpPr>
          <p:nvPr/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Full Order Model (FEM)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FBCCD3DA-F7C7-D6AC-4DEB-8E3ECAC176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90970" y="2594939"/>
                <a:ext cx="4776216" cy="3315246"/>
              </a:xfrm>
              <a:prstGeom prst="rect">
                <a:avLst/>
              </a:prstGeom>
            </p:spPr>
            <p:txBody>
              <a:bodyPr vert="horz" lIns="0" tIns="45720" rIns="0" bIns="0" rtlCol="0">
                <a:normAutofit/>
              </a:bodyPr>
              <a:lstStyle>
                <a:defPPr>
                  <a:defRPr lang="it-IT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59436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00584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it-IT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Finite </a:t>
                </a:r>
                <a:r>
                  <a:rPr lang="it-IT" b="1" dirty="0" err="1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Elements</a:t>
                </a:r>
                <a:r>
                  <a:rPr lang="it-IT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</a:t>
                </a:r>
                <a:r>
                  <a:rPr lang="it-IT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: </a:t>
                </a:r>
                <a:r>
                  <a:rPr lang="it-IT" dirty="0" err="1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discretization</a:t>
                </a:r>
                <a:r>
                  <a:rPr lang="it-IT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of </a:t>
                </a:r>
                <a:r>
                  <a:rPr lang="it-IT" dirty="0" err="1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weak</a:t>
                </a:r>
                <a:r>
                  <a:rPr lang="it-IT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formulation</a:t>
                </a:r>
                <a:r>
                  <a:rPr lang="it-IT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</a:t>
                </a: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9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it-IT" sz="1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it-IT" sz="1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𝑝𝑎𝑛</m:t>
                      </m:r>
                      <m:r>
                        <a:rPr lang="it-IT" sz="19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it-IT" sz="1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it-IT" sz="19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9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t-IT" sz="19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sup>
                      </m:sSubSup>
                      <m:r>
                        <a:rPr lang="it-IT" sz="1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it-IT" sz="1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19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it-IT" sz="19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900" i="0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</m:e>
                      </m:func>
                      <m:sSub>
                        <m:sSubPr>
                          <m:ctrl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sSub>
                        <m:sSubPr>
                          <m:ctrl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it-IT" sz="19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sub>
                      </m:sSub>
                    </m:oMath>
                  </m:oMathPara>
                </a14:m>
                <a:endParaRPr lang="it-IT" sz="19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Non linearity</a:t>
                </a:r>
                <a:r>
                  <a:rPr lang="en-US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: Newton iterations to obtain a matrix formulation</a:t>
                </a: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it-IT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Sup>
                            <m:sSubSupPr>
                              <m:ctrlP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it-IT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p>
                          </m:sSubSup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d>
                      <m:r>
                        <a:rPr lang="it-IT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Sup>
                        <m:sSubSupPr>
                          <m:ctrlP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it-IT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bSup>
                      <m:r>
                        <a:rPr lang="it-IT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it-IT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p>
                      <m:d>
                        <m:dPr>
                          <m:ctrlP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it-IT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p>
                          </m:sSubSup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d>
                      <m:r>
                        <a:rPr lang="it-IT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 ∀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ranklin Gothic Book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it-IT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it-IT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bSup>
                      <m:r>
                        <a:rPr lang="it-IT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it-IT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it-IT" sz="18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8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it-IT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bSup>
                      <m:r>
                        <a:rPr lang="it-IT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Sup>
                        <m:sSubSupPr>
                          <m:ctrlPr>
                            <a:rPr lang="it-IT" sz="18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sz="18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it-IT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bSup>
                    </m:oMath>
                  </m:oMathPara>
                </a14:m>
                <a:endPara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ranklin Gothic Book"/>
                </a:endParaRPr>
              </a:p>
            </p:txBody>
          </p:sp>
        </mc:Choice>
        <mc:Fallback xmlns="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FBCCD3DA-F7C7-D6AC-4DEB-8E3ECAC17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70" y="2594939"/>
                <a:ext cx="4776216" cy="3315246"/>
              </a:xfrm>
              <a:prstGeom prst="rect">
                <a:avLst/>
              </a:prstGeom>
              <a:blipFill>
                <a:blip r:embed="rId2"/>
                <a:stretch>
                  <a:fillRect l="-3065" t="-2022" r="-17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po 7">
            <a:extLst>
              <a:ext uri="{FF2B5EF4-FFF2-40B4-BE49-F238E27FC236}">
                <a16:creationId xmlns:a16="http://schemas.microsoft.com/office/drawing/2014/main" id="{F7443B1E-3F34-2F4B-9216-1725A5F92D26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10800000">
            <a:off x="9256466" y="-926120"/>
            <a:ext cx="3574289" cy="4284000"/>
            <a:chOff x="-1149646" y="729342"/>
            <a:chExt cx="6501198" cy="7792076"/>
          </a:xfrm>
        </p:grpSpPr>
        <p:pic>
          <p:nvPicPr>
            <p:cNvPr id="9" name="Immagine 8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9AB7D25A-0DA0-ECD3-CA54-9A9C49209C9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0" name="Immagine 9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51797A3D-C933-9950-D02B-3C8E0D22BCA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667E916C-3EF6-3CEA-119C-B699EFA123F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2" name="Immagine 11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356AFA89-0D02-82F3-1998-1DC7547A86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3" name="Immagine 12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DB6B4BBD-4033-4AAE-D411-39D554EC57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  <p:sp>
        <p:nvSpPr>
          <p:cNvPr id="7" name="Rettangolo 6">
            <a:extLst>
              <a:ext uri="{FF2B5EF4-FFF2-40B4-BE49-F238E27FC236}">
                <a16:creationId xmlns:a16="http://schemas.microsoft.com/office/drawing/2014/main" id="{811D5365-4454-5A0F-255A-7FE8B73BABF1}"/>
              </a:ext>
            </a:extLst>
          </p:cNvPr>
          <p:cNvSpPr/>
          <p:nvPr/>
        </p:nvSpPr>
        <p:spPr>
          <a:xfrm>
            <a:off x="594360" y="2060028"/>
            <a:ext cx="2169861" cy="149772"/>
          </a:xfrm>
          <a:prstGeom prst="rect">
            <a:avLst/>
          </a:prstGeom>
          <a:solidFill>
            <a:srgbClr val="4495A2">
              <a:lumMod val="75000"/>
            </a:srgbClr>
          </a:solidFill>
          <a:ln w="12700" cap="flat" cmpd="sng" algn="ctr">
            <a:solidFill>
              <a:srgbClr val="4495A2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15" name="Immagine 14" descr="Immagine che contiene schermata, modello, Policromia&#10;&#10;Il contenuto generato dall'IA potrebbe non essere corretto.">
            <a:extLst>
              <a:ext uri="{FF2B5EF4-FFF2-40B4-BE49-F238E27FC236}">
                <a16:creationId xmlns:a16="http://schemas.microsoft.com/office/drawing/2014/main" id="{22C7657A-AFF3-0032-2E70-63A754469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40" y="2736051"/>
            <a:ext cx="3010161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6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 descr="Immagine che contiene testo, diagramma, linea, Carattere&#10;&#10;Il contenuto generato dall'IA potrebbe non essere corretto.">
            <a:extLst>
              <a:ext uri="{FF2B5EF4-FFF2-40B4-BE49-F238E27FC236}">
                <a16:creationId xmlns:a16="http://schemas.microsoft.com/office/drawing/2014/main" id="{B7CEE315-DFE6-EAE6-96A3-676947942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3198051"/>
            <a:ext cx="3570042" cy="2384301"/>
          </a:xfrm>
          <a:prstGeom prst="rect">
            <a:avLst/>
          </a:prstGeom>
        </p:spPr>
      </p:pic>
      <p:sp>
        <p:nvSpPr>
          <p:cNvPr id="4" name="Titolo 2">
            <a:extLst>
              <a:ext uri="{FF2B5EF4-FFF2-40B4-BE49-F238E27FC236}">
                <a16:creationId xmlns:a16="http://schemas.microsoft.com/office/drawing/2014/main" id="{9094916F-863D-63F0-89D3-452C42E6A62E}"/>
              </a:ext>
            </a:extLst>
          </p:cNvPr>
          <p:cNvSpPr txBox="1">
            <a:spLocks/>
          </p:cNvSpPr>
          <p:nvPr/>
        </p:nvSpPr>
        <p:spPr>
          <a:xfrm>
            <a:off x="594360" y="102875"/>
            <a:ext cx="8510311" cy="16802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lvl="0"/>
            <a:r>
              <a:rPr lang="it-IT" dirty="0" err="1">
                <a:solidFill>
                  <a:schemeClr val="tx1"/>
                </a:solidFill>
                <a:latin typeface="Franklin Gothic Demi" panose="020B0703020102020204" pitchFamily="34" charset="0"/>
              </a:rPr>
              <a:t>Proper</a:t>
            </a:r>
            <a:r>
              <a:rPr lang="it-IT" dirty="0">
                <a:solidFill>
                  <a:schemeClr val="tx1"/>
                </a:solidFill>
                <a:latin typeface="Franklin Gothic Demi" panose="020B0703020102020204" pitchFamily="34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Franklin Gothic Demi" panose="020B0703020102020204" pitchFamily="34" charset="0"/>
              </a:rPr>
              <a:t>Orthogonal</a:t>
            </a:r>
            <a:r>
              <a:rPr lang="it-IT" dirty="0">
                <a:solidFill>
                  <a:schemeClr val="tx1"/>
                </a:solidFill>
                <a:latin typeface="Franklin Gothic Demi" panose="020B0703020102020204" pitchFamily="34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Franklin Gothic Demi" panose="020B0703020102020204" pitchFamily="34" charset="0"/>
              </a:rPr>
              <a:t>Decomposition</a:t>
            </a:r>
            <a:r>
              <a:rPr lang="it-IT" dirty="0">
                <a:solidFill>
                  <a:schemeClr val="tx1"/>
                </a:solidFill>
                <a:latin typeface="Franklin Gothic Demi" panose="020B0703020102020204" pitchFamily="34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Franklin Gothic Demi"/>
              </a:rPr>
              <a:t>(</a:t>
            </a:r>
            <a:r>
              <a:rPr kumimoji="0" lang="it-IT" sz="4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POD)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testo 6">
                <a:extLst>
                  <a:ext uri="{FF2B5EF4-FFF2-40B4-BE49-F238E27FC236}">
                    <a16:creationId xmlns:a16="http://schemas.microsoft.com/office/drawing/2014/main" id="{E81E16D9-AF2C-2B2E-C3C3-8893AF8E6F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64313" y="2471653"/>
                <a:ext cx="4573494" cy="3488751"/>
              </a:xfrm>
              <a:prstGeom prst="rect">
                <a:avLst/>
              </a:prstGeom>
            </p:spPr>
            <p:txBody>
              <a:bodyPr vert="horz" lIns="0" tIns="228600" rIns="0" bIns="0" rtlCol="0">
                <a:normAutofit fontScale="70000" lnSpcReduction="20000"/>
              </a:bodyPr>
              <a:lstStyle>
                <a:defPPr>
                  <a:defRPr lang="it-IT"/>
                </a:defPPr>
                <a:lvl1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it-IT" sz="29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Builds a </a:t>
                </a:r>
                <a:r>
                  <a:rPr lang="it-IT" sz="2900" b="1" dirty="0" err="1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reduced</a:t>
                </a:r>
                <a:r>
                  <a:rPr lang="it-IT" sz="2900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</a:t>
                </a:r>
                <a:r>
                  <a:rPr lang="it-IT" sz="2900" b="1" dirty="0" err="1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basis</a:t>
                </a:r>
                <a:r>
                  <a:rPr lang="it-IT" sz="2900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</a:t>
                </a:r>
                <a:r>
                  <a:rPr lang="it-IT" sz="29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from snapshots</a:t>
                </a:r>
              </a:p>
              <a:p>
                <a:pPr marL="0" lvl="0" indent="0">
                  <a:lnSpc>
                    <a:spcPct val="2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it-IT" sz="2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𝑠𝑝𝑎𝑛</m:t>
                      </m:r>
                      <m:sSubSup>
                        <m:sSubSupPr>
                          <m:ctrlP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sup>
                      </m:sSubSup>
                      <m:r>
                        <a:rPr lang="it-IT" sz="2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sSub>
                        <m:sSubPr>
                          <m:ctrlP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it-IT" sz="2900" b="0" dirty="0">
                  <a:solidFill>
                    <a:schemeClr val="tx1"/>
                  </a:solidFill>
                  <a:latin typeface="Franklin Gothic Book" panose="020B0503020102020204" pitchFamily="34" charset="0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𝑑𝑖𝑚</m:t>
                      </m:r>
                      <m:d>
                        <m:dPr>
                          <m:ctrlP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2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e>
                      </m:d>
                      <m:r>
                        <a:rPr lang="it-IT" sz="2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it-IT" sz="2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it-IT" sz="2900" dirty="0">
                  <a:solidFill>
                    <a:schemeClr val="tx1"/>
                  </a:solidFill>
                  <a:latin typeface="Franklin Gothic Book" panose="020B0503020102020204" pitchFamily="34" charset="0"/>
                </a:endParaRPr>
              </a:p>
              <a:p>
                <a:pPr marL="0" lvl="0" indent="0">
                  <a:lnSpc>
                    <a:spcPct val="100000"/>
                  </a:lnSpc>
                  <a:buNone/>
                </a:pPr>
                <a:endParaRPr lang="it-IT" sz="2400" dirty="0">
                  <a:solidFill>
                    <a:schemeClr val="tx1"/>
                  </a:solidFill>
                  <a:latin typeface="Franklin Gothic Book" panose="020B0503020102020204" pitchFamily="34" charset="0"/>
                </a:endParaRPr>
              </a:p>
              <a:p>
                <a:pPr lvl="0">
                  <a:spcBef>
                    <a:spcPts val="2400"/>
                  </a:spcBef>
                </a:pPr>
                <a:r>
                  <a:rPr lang="en-US" sz="29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Solve reduced system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en-US" sz="29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​ and </a:t>
                </a:r>
                <a:r>
                  <a:rPr lang="en-US" sz="2900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reconstruct solution</a:t>
                </a:r>
                <a:endParaRPr kumimoji="0" lang="it-IT" sz="29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ranklin Gothic Book" panose="020B0503020102020204" pitchFamily="34" charset="0"/>
                </a:endParaRPr>
              </a:p>
              <a:p>
                <a:pPr marL="283464" marR="0" lvl="0" indent="-283464" algn="l" defTabSz="914400" rtl="0" eaLnBrk="1" fontAlgn="auto" latinLnBrk="0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it-IT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Segnaposto testo 6">
                <a:extLst>
                  <a:ext uri="{FF2B5EF4-FFF2-40B4-BE49-F238E27FC236}">
                    <a16:creationId xmlns:a16="http://schemas.microsoft.com/office/drawing/2014/main" id="{E81E16D9-AF2C-2B2E-C3C3-8893AF8E6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313" y="2471653"/>
                <a:ext cx="4573494" cy="3488751"/>
              </a:xfrm>
              <a:prstGeom prst="rect">
                <a:avLst/>
              </a:prstGeom>
              <a:blipFill>
                <a:blip r:embed="rId3"/>
                <a:stretch>
                  <a:fillRect l="-3200" r="-5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tangolo 5">
            <a:extLst>
              <a:ext uri="{FF2B5EF4-FFF2-40B4-BE49-F238E27FC236}">
                <a16:creationId xmlns:a16="http://schemas.microsoft.com/office/drawing/2014/main" id="{CAA250EA-032C-2334-DD0B-1C0328B2F256}"/>
              </a:ext>
            </a:extLst>
          </p:cNvPr>
          <p:cNvSpPr/>
          <p:nvPr/>
        </p:nvSpPr>
        <p:spPr>
          <a:xfrm>
            <a:off x="594360" y="2060028"/>
            <a:ext cx="2169861" cy="149772"/>
          </a:xfrm>
          <a:prstGeom prst="rect">
            <a:avLst/>
          </a:prstGeom>
          <a:solidFill>
            <a:srgbClr val="4495A2"/>
          </a:solidFill>
          <a:ln w="12700" cap="flat" cmpd="sng" algn="ctr">
            <a:solidFill>
              <a:srgbClr val="4495A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9B663CAE-5704-0461-3710-9DA5F298C3D7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-638136" y="3486150"/>
            <a:ext cx="3574289" cy="4284000"/>
            <a:chOff x="-1149646" y="729342"/>
            <a:chExt cx="6501198" cy="7792076"/>
          </a:xfrm>
        </p:grpSpPr>
        <p:pic>
          <p:nvPicPr>
            <p:cNvPr id="14" name="Immagine 13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FD57849E-26C0-9AE0-A9B8-21303E98C5A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5" name="Immagine 14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5851B39A-45B6-35C6-D602-3E9773B5A28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C61AD016-1C73-3CA9-DD2B-2268AF7025C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7" name="Immagine 16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19BF312D-4C95-DFD6-A739-08EA291584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8" name="Immagine 17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7CC28864-46E6-1A88-3679-C76FA60C0D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7267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D39C1AE-4821-3C69-C966-5679AA756DEC}"/>
              </a:ext>
            </a:extLst>
          </p:cNvPr>
          <p:cNvSpPr txBox="1">
            <a:spLocks/>
          </p:cNvSpPr>
          <p:nvPr/>
        </p:nvSpPr>
        <p:spPr>
          <a:xfrm>
            <a:off x="594362" y="278129"/>
            <a:ext cx="6165328" cy="14945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lvl="0"/>
            <a:r>
              <a:rPr lang="it-IT" dirty="0" err="1">
                <a:solidFill>
                  <a:schemeClr val="tx1"/>
                </a:solidFill>
                <a:latin typeface="Franklin Gothic Demi" panose="020B0703020102020204" pitchFamily="34" charset="0"/>
              </a:rPr>
              <a:t>Physics-Informed</a:t>
            </a:r>
            <a:r>
              <a:rPr lang="it-IT" dirty="0">
                <a:solidFill>
                  <a:schemeClr val="tx1"/>
                </a:solidFill>
                <a:latin typeface="Franklin Gothic Demi" panose="020B0703020102020204" pitchFamily="34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Franklin Gothic Demi" panose="020B0703020102020204" pitchFamily="34" charset="0"/>
              </a:rPr>
              <a:t>Neural</a:t>
            </a:r>
            <a:r>
              <a:rPr lang="it-IT" dirty="0">
                <a:solidFill>
                  <a:schemeClr val="tx1"/>
                </a:solidFill>
                <a:latin typeface="Franklin Gothic Demi" panose="020B0703020102020204" pitchFamily="34" charset="0"/>
              </a:rPr>
              <a:t> Network </a:t>
            </a:r>
            <a:r>
              <a:rPr lang="it-IT" dirty="0">
                <a:solidFill>
                  <a:srgbClr val="000000"/>
                </a:solidFill>
                <a:latin typeface="Franklin Gothic Demi"/>
              </a:rPr>
              <a:t>(</a:t>
            </a:r>
            <a:r>
              <a:rPr kumimoji="0" lang="it-IT" sz="4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PINN)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75AF4D3E-5E4E-F1AC-0384-B305257E0C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33483" y="3038144"/>
                <a:ext cx="4047292" cy="3156179"/>
              </a:xfrm>
              <a:prstGeom prst="rect">
                <a:avLst/>
              </a:prstGeom>
            </p:spPr>
            <p:txBody>
              <a:bodyPr vert="horz" lIns="0" tIns="45720" rIns="0" bIns="0" rtlCol="0">
                <a:normAutofit fontScale="70000" lnSpcReduction="20000"/>
              </a:bodyPr>
              <a:lstStyle>
                <a:defPPr>
                  <a:defRPr lang="it-IT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59436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00584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3464" marR="0" lvl="1" indent="-283464" algn="l" defTabSz="914400" rtl="0" eaLnBrk="1" fontAlgn="auto" latinLnBrk="0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it-IT" sz="2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Train </a:t>
                </a:r>
                <a:r>
                  <a:rPr kumimoji="0" lang="it-IT" sz="29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a </a:t>
                </a:r>
                <a:r>
                  <a:rPr kumimoji="0" lang="it-IT" sz="290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Neural</a:t>
                </a:r>
                <a:r>
                  <a:rPr kumimoji="0" lang="it-IT" sz="29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 Network</a:t>
                </a:r>
                <a:r>
                  <a:rPr kumimoji="0" lang="it-IT" sz="29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, </a:t>
                </a:r>
                <a:r>
                  <a:rPr kumimoji="0" lang="it-IT" sz="2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mesh-free</a:t>
                </a:r>
                <a:r>
                  <a:rPr kumimoji="0" lang="it-IT" sz="2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 </a:t>
                </a:r>
                <a:r>
                  <a:rPr kumimoji="0" lang="it-IT" sz="2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approach</a:t>
                </a:r>
                <a:r>
                  <a:rPr kumimoji="0" lang="it-IT" sz="2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:</a:t>
                </a:r>
              </a:p>
              <a:p>
                <a:pPr marL="0" lvl="1" indent="0">
                  <a:lnSpc>
                    <a:spcPct val="220000"/>
                  </a:lnSpc>
                  <a:buNone/>
                </a:pPr>
                <a:r>
                  <a:rPr kumimoji="0" lang="it-IT" sz="27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               </a:t>
                </a:r>
                <a:r>
                  <a:rPr kumimoji="0" lang="it-IT" sz="2700" b="0" u="none" strike="noStrike" kern="120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it-IT" sz="27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it-IT" sz="27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kumimoji="0" lang="it-IT" sz="27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𝑁𝑁</m:t>
                        </m:r>
                      </m:sub>
                    </m:sSub>
                    <m:r>
                      <a:rPr kumimoji="0" lang="it-IT" sz="27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kumimoji="0" lang="it-IT" sz="2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Ω</m:t>
                    </m:r>
                    <m:r>
                      <a:rPr kumimoji="0" lang="it-IT" sz="27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×</m:t>
                    </m:r>
                    <m:r>
                      <a:rPr kumimoji="0" lang="it-IT" sz="27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𝒫</m:t>
                    </m:r>
                    <m:r>
                      <a:rPr kumimoji="0" lang="it-IT" sz="27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0" lang="it-IT" sz="27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kumimoji="0" lang="it-IT" sz="2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7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d>
                        <m:dPr>
                          <m:ctrlPr>
                            <a:rPr lang="it-IT" sz="27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27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</m:d>
                      <m:r>
                        <a:rPr lang="it-IT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acc>
                        <m:accPr>
                          <m:chr m:val="̅"/>
                          <m:ctrlP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it-IT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it-IT" sz="27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p>
                          </m:sSup>
                        </m:e>
                      </m:acc>
                      <m:d>
                        <m:dPr>
                          <m:ctrlP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it-IT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it-IT" sz="27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p>
                      <m:d>
                        <m:dPr>
                          <m:ctrlP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it-IT" sz="2700" dirty="0">
                  <a:solidFill>
                    <a:srgbClr val="000000"/>
                  </a:solidFill>
                  <a:latin typeface="Franklin Gothic Book"/>
                </a:endParaRPr>
              </a:p>
              <a:p>
                <a:pPr lvl="1">
                  <a:spcBef>
                    <a:spcPts val="2400"/>
                  </a:spcBef>
                </a:pPr>
                <a:endParaRPr lang="en-US" sz="2900" b="1" dirty="0">
                  <a:solidFill>
                    <a:schemeClr val="tx1"/>
                  </a:solidFill>
                  <a:latin typeface="Franklin Gothic Book" panose="020B0503020102020204" pitchFamily="34" charset="0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sz="2900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Minimization</a:t>
                </a:r>
                <a:r>
                  <a:rPr lang="en-US" sz="29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of the loss function:</a:t>
                </a: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𝑀𝑆</m:t>
                      </m:r>
                      <m:sSubSup>
                        <m:sSubSupPr>
                          <m:ctrlPr>
                            <a:rPr lang="en-US" sz="27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7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7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7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bSup>
                      <m:r>
                        <a:rPr lang="en-US" sz="27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𝑀𝑆</m:t>
                      </m:r>
                      <m:sSubSup>
                        <m:sSubSupPr>
                          <m:ctrlPr>
                            <a:rPr lang="en-US" sz="27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7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7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7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sup>
                      </m:sSubSup>
                    </m:oMath>
                  </m:oMathPara>
                </a14:m>
                <a:endParaRPr lang="en-US" sz="2700" dirty="0">
                  <a:solidFill>
                    <a:schemeClr val="tx1"/>
                  </a:solidFill>
                  <a:latin typeface="Franklin Gothic Book" panose="020B0503020102020204" pitchFamily="34" charset="0"/>
                </a:endParaRPr>
              </a:p>
            </p:txBody>
          </p:sp>
        </mc:Choice>
        <mc:Fallback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75AF4D3E-5E4E-F1AC-0384-B305257E0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483" y="3038144"/>
                <a:ext cx="4047292" cy="3156179"/>
              </a:xfrm>
              <a:prstGeom prst="rect">
                <a:avLst/>
              </a:prstGeom>
              <a:blipFill>
                <a:blip r:embed="rId2"/>
                <a:stretch>
                  <a:fillRect l="-3614" t="-3668" r="-13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tangolo 6">
            <a:extLst>
              <a:ext uri="{FF2B5EF4-FFF2-40B4-BE49-F238E27FC236}">
                <a16:creationId xmlns:a16="http://schemas.microsoft.com/office/drawing/2014/main" id="{89F84A5A-B61E-E556-845B-2AD5D6737B82}"/>
              </a:ext>
            </a:extLst>
          </p:cNvPr>
          <p:cNvSpPr/>
          <p:nvPr/>
        </p:nvSpPr>
        <p:spPr>
          <a:xfrm>
            <a:off x="594360" y="2060028"/>
            <a:ext cx="2169861" cy="149772"/>
          </a:xfrm>
          <a:prstGeom prst="rect">
            <a:avLst/>
          </a:prstGeom>
          <a:solidFill>
            <a:srgbClr val="CEDF1C"/>
          </a:solidFill>
          <a:ln w="12700" cap="flat" cmpd="sng" algn="ctr">
            <a:solidFill>
              <a:srgbClr val="CEDF1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8E85F6AC-0F51-C8EB-D09E-3AEF627EC237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10800000">
            <a:off x="9256466" y="-926120"/>
            <a:ext cx="3574289" cy="4284000"/>
            <a:chOff x="-1149646" y="729342"/>
            <a:chExt cx="6501198" cy="7792076"/>
          </a:xfrm>
        </p:grpSpPr>
        <p:pic>
          <p:nvPicPr>
            <p:cNvPr id="9" name="Immagine 8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9041B9B8-DB62-C7CF-322D-9A7B80C2858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0" name="Immagine 9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C39950E4-35C4-296B-D529-B5D0955609A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515094B0-CCF5-9E7C-78B5-50C260B67F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2" name="Immagine 11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7318EEC6-711A-2A85-E6AF-53E565429C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3" name="Immagine 12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361367BC-224E-889E-0D01-2F52FD1F41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  <p:pic>
        <p:nvPicPr>
          <p:cNvPr id="15" name="Immagine 14">
            <a:extLst>
              <a:ext uri="{FF2B5EF4-FFF2-40B4-BE49-F238E27FC236}">
                <a16:creationId xmlns:a16="http://schemas.microsoft.com/office/drawing/2014/main" id="{04ECB385-7E82-DB0D-D9C7-4779915A9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2012" y="2728280"/>
            <a:ext cx="5112820" cy="312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5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2">
            <a:extLst>
              <a:ext uri="{FF2B5EF4-FFF2-40B4-BE49-F238E27FC236}">
                <a16:creationId xmlns:a16="http://schemas.microsoft.com/office/drawing/2014/main" id="{4BE8BACF-8B2A-9998-FC1F-BA3B9A88D8FB}"/>
              </a:ext>
            </a:extLst>
          </p:cNvPr>
          <p:cNvSpPr txBox="1">
            <a:spLocks/>
          </p:cNvSpPr>
          <p:nvPr/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Hybrid</a:t>
            </a:r>
            <a:r>
              <a:rPr kumimoji="0" lang="it-IT" sz="4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 </a:t>
            </a:r>
            <a:r>
              <a:rPr kumimoji="0" lang="it-IT" sz="44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Approach</a:t>
            </a:r>
            <a:r>
              <a:rPr kumimoji="0" lang="it-IT" sz="4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 (POD-NN)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testo 6">
                <a:extLst>
                  <a:ext uri="{FF2B5EF4-FFF2-40B4-BE49-F238E27FC236}">
                    <a16:creationId xmlns:a16="http://schemas.microsoft.com/office/drawing/2014/main" id="{7205AB89-7010-06A1-8179-08661F0C15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89750" y="2333104"/>
                <a:ext cx="4154886" cy="4087362"/>
              </a:xfrm>
              <a:prstGeom prst="rect">
                <a:avLst/>
              </a:prstGeom>
            </p:spPr>
            <p:txBody>
              <a:bodyPr vert="horz" lIns="0" tIns="228600" rIns="0" bIns="0" rtlCol="0">
                <a:normAutofit fontScale="62500" lnSpcReduction="20000"/>
              </a:bodyPr>
              <a:lstStyle>
                <a:defPPr>
                  <a:defRPr lang="it-IT"/>
                </a:defPPr>
                <a:lvl1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3464" marR="0" lvl="0" indent="-283464" algn="l" defTabSz="914400" rtl="0" eaLnBrk="1" fontAlgn="auto" latinLnBrk="0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it-IT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POD stage</a:t>
                </a:r>
                <a:r>
                  <a:rPr kumimoji="0" lang="it-IT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: compute </a:t>
                </a:r>
                <a:r>
                  <a:rPr kumimoji="0" lang="it-IT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snapshots</a:t>
                </a:r>
                <a:r>
                  <a:rPr kumimoji="0" lang="it-IT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 and </a:t>
                </a:r>
                <a:r>
                  <a:rPr kumimoji="0" lang="it-IT" sz="32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basis</a:t>
                </a:r>
                <a:r>
                  <a:rPr kumimoji="0" lang="it-IT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 </a:t>
                </a:r>
                <a:r>
                  <a:rPr kumimoji="0" lang="it-IT" sz="32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matrix</a:t>
                </a:r>
                <a:r>
                  <a:rPr kumimoji="0" lang="it-IT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</a:rPr>
                  <a:t> </a:t>
                </a:r>
              </a:p>
              <a:p>
                <a:pPr lvl="0"/>
                <a:r>
                  <a:rPr lang="en-US" sz="3200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NN stage</a:t>
                </a:r>
                <a:r>
                  <a:rPr lang="en-US" sz="32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: </a:t>
                </a: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it-IT" sz="3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𝑃𝑂𝐷</m:t>
                          </m:r>
                          <m:r>
                            <a:rPr lang="it-IT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𝑁𝑁</m:t>
                          </m:r>
                        </m:sub>
                      </m:sSub>
                      <m:r>
                        <a:rPr lang="it-IT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it-IT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it-IT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it-IT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it-IT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t-IT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it-IT" sz="3000" dirty="0">
                  <a:solidFill>
                    <a:srgbClr val="000000"/>
                  </a:solidFill>
                  <a:latin typeface="Franklin Gothic Book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</m:t>
                          </m:r>
                          <m:r>
                            <a:rPr lang="de-DE" sz="30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p>
                          <m:r>
                            <a:rPr lang="de-DE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acc>
                        <m:accPr>
                          <m:chr m:val="̃"/>
                          <m:ctrlPr>
                            <a:rPr lang="de-DE" sz="3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de-DE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3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de-DE" sz="3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3000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de-DE" sz="3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p>
                          </m:sSup>
                        </m:e>
                      </m:acc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  <a:latin typeface="Franklin Gothic Book" panose="020B0503020102020204" pitchFamily="34" charset="0"/>
                </a:endParaRPr>
              </a:p>
              <a:p>
                <a:pPr lvl="0"/>
                <a:r>
                  <a:rPr lang="en-US" sz="3200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Reconstruct </a:t>
                </a:r>
                <a:r>
                  <a:rPr lang="en-US" sz="32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the solution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3200" b="1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Minimization</a:t>
                </a:r>
                <a:r>
                  <a:rPr lang="en-US" sz="3200" dirty="0">
                    <a:solidFill>
                      <a:schemeClr val="tx1"/>
                    </a:solidFill>
                    <a:latin typeface="Franklin Gothic Book" panose="020B0503020102020204" pitchFamily="34" charset="0"/>
                  </a:rPr>
                  <a:t> of the loss function:</a:t>
                </a:r>
              </a:p>
              <a:p>
                <a:pPr marL="0" lvl="0" indent="0"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en-US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3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sz="3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US" sz="3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3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3000" i="1" dirty="0" err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0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sz="3000" i="1" dirty="0" err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acc>
                              <m:r>
                                <a:rPr lang="en-US" sz="3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3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3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3000" i="1" dirty="0" err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0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sz="3000" i="1" dirty="0" err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acc>
                            </m:e>
                          </m:d>
                          <m:r>
                            <a:rPr lang="it-IT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3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lit/>
                                </m:rPr>
                                <a:rPr lang="en-US" sz="3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sz="3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3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  <a:latin typeface="Franklin Gothic Book" panose="020B0503020102020204" pitchFamily="34" charset="0"/>
                </a:endParaRPr>
              </a:p>
              <a:p>
                <a:pPr lvl="0"/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+mn-ea"/>
                  <a:cs typeface="+mn-cs"/>
                </a:endParaRPr>
              </a:p>
              <a:p>
                <a:pPr marL="0" lvl="0" indent="0">
                  <a:buNone/>
                </a:pPr>
                <a:endParaRPr kumimoji="0" lang="it-IT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  <a:p>
                <a:pPr marL="283464" marR="0" lvl="0" indent="-283464" algn="l" defTabSz="914400" rtl="0" eaLnBrk="1" fontAlgn="auto" latinLnBrk="0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it-IT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Segnaposto testo 6">
                <a:extLst>
                  <a:ext uri="{FF2B5EF4-FFF2-40B4-BE49-F238E27FC236}">
                    <a16:creationId xmlns:a16="http://schemas.microsoft.com/office/drawing/2014/main" id="{7205AB89-7010-06A1-8179-08661F0C1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750" y="2333104"/>
                <a:ext cx="4154886" cy="4087362"/>
              </a:xfrm>
              <a:prstGeom prst="rect">
                <a:avLst/>
              </a:prstGeom>
              <a:blipFill>
                <a:blip r:embed="rId2"/>
                <a:stretch>
                  <a:fillRect l="-3519" r="-41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tangolo 5">
            <a:extLst>
              <a:ext uri="{FF2B5EF4-FFF2-40B4-BE49-F238E27FC236}">
                <a16:creationId xmlns:a16="http://schemas.microsoft.com/office/drawing/2014/main" id="{887BB758-4AC5-4A41-7482-AE071E354C4A}"/>
              </a:ext>
            </a:extLst>
          </p:cNvPr>
          <p:cNvSpPr/>
          <p:nvPr/>
        </p:nvSpPr>
        <p:spPr>
          <a:xfrm>
            <a:off x="594360" y="2060028"/>
            <a:ext cx="2169861" cy="149772"/>
          </a:xfrm>
          <a:prstGeom prst="rect">
            <a:avLst/>
          </a:prstGeom>
          <a:solidFill>
            <a:srgbClr val="7CA655"/>
          </a:solidFill>
          <a:ln w="12700" cap="flat" cmpd="sng" algn="ctr">
            <a:solidFill>
              <a:srgbClr val="7CA65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36D567CB-4A8D-7AC8-7A4B-5031751D2F6A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-638136" y="3486150"/>
            <a:ext cx="3574289" cy="4284000"/>
            <a:chOff x="-1149646" y="729342"/>
            <a:chExt cx="6501198" cy="7792076"/>
          </a:xfrm>
        </p:grpSpPr>
        <p:pic>
          <p:nvPicPr>
            <p:cNvPr id="14" name="Immagine 13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D1CE6066-5D82-8921-58C6-9E33855162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5" name="Immagine 14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2728D226-0913-EFE2-6EBF-EA99296122B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F58C4A5C-1D34-E0BA-1B46-78A748F894C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7" name="Immagine 16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9DC9921D-28F6-9774-26E9-92340CF509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8" name="Immagine 17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63D00674-1D96-227E-6ED0-9117024C5D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  <p:pic>
        <p:nvPicPr>
          <p:cNvPr id="20" name="Immagine 19" descr="Immagine che contiene testo, line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B936FB91-E819-0AEF-ACED-06A72716C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28" y="3165977"/>
            <a:ext cx="3101609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9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8">
            <a:extLst>
              <a:ext uri="{FF2B5EF4-FFF2-40B4-BE49-F238E27FC236}">
                <a16:creationId xmlns:a16="http://schemas.microsoft.com/office/drawing/2014/main" id="{786C28F0-BF2F-016E-3748-1228986A0008}"/>
              </a:ext>
            </a:extLst>
          </p:cNvPr>
          <p:cNvSpPr txBox="1">
            <a:spLocks/>
          </p:cNvSpPr>
          <p:nvPr/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0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Numerical</a:t>
            </a:r>
            <a:r>
              <a:rPr kumimoji="0" lang="it-IT" sz="60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 Studies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55D43CE-4962-F1A7-909A-1886F9252F08}"/>
              </a:ext>
            </a:extLst>
          </p:cNvPr>
          <p:cNvSpPr/>
          <p:nvPr/>
        </p:nvSpPr>
        <p:spPr>
          <a:xfrm>
            <a:off x="6309904" y="3891772"/>
            <a:ext cx="2548035" cy="102636"/>
          </a:xfrm>
          <a:prstGeom prst="rect">
            <a:avLst/>
          </a:prstGeom>
          <a:solidFill>
            <a:srgbClr val="3B4684"/>
          </a:solidFill>
          <a:ln>
            <a:solidFill>
              <a:srgbClr val="3B46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F6446D92-8CBE-CE3A-0289-C5EC956984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149646" y="729342"/>
            <a:ext cx="6501198" cy="7792076"/>
            <a:chOff x="-1149646" y="729342"/>
            <a:chExt cx="6501198" cy="7792076"/>
          </a:xfrm>
        </p:grpSpPr>
        <p:pic>
          <p:nvPicPr>
            <p:cNvPr id="7" name="Immagine 6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9FABFE04-BB4E-A0E6-CDDD-FF2FEC8AE80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8" name="Immagine 7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03CBD8A2-0688-E104-DB61-5CC94AA8D53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63E06622-9F41-7E33-83EA-7D878F33FA3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0" name="Immagine 9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B3419747-028E-1322-B7C8-64D06143AC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1" name="Immagine 10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5FC6DCDF-0312-79A3-E49A-B125AFA6A9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45425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977AD96-7750-250C-1FA9-275F76C358BE}"/>
              </a:ext>
            </a:extLst>
          </p:cNvPr>
          <p:cNvSpPr txBox="1">
            <a:spLocks/>
          </p:cNvSpPr>
          <p:nvPr/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Experimental Setup </a:t>
            </a:r>
            <a:endParaRPr kumimoji="0" lang="it-IT" sz="44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E6C735D-0446-03DB-72F5-3BFA3A88DDF1}"/>
              </a:ext>
            </a:extLst>
          </p:cNvPr>
          <p:cNvSpPr/>
          <p:nvPr/>
        </p:nvSpPr>
        <p:spPr>
          <a:xfrm>
            <a:off x="6328216" y="6299070"/>
            <a:ext cx="2548035" cy="102636"/>
          </a:xfrm>
          <a:prstGeom prst="rect">
            <a:avLst/>
          </a:prstGeom>
          <a:solidFill>
            <a:srgbClr val="3B4684"/>
          </a:solidFill>
          <a:ln>
            <a:solidFill>
              <a:srgbClr val="3B46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2A5922D7-3A6C-46E8-765E-A9D3F5A61A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370776" y="-995455"/>
            <a:ext cx="4824675" cy="4495809"/>
            <a:chOff x="7370776" y="-995455"/>
            <a:chExt cx="4824675" cy="4495809"/>
          </a:xfrm>
        </p:grpSpPr>
        <p:pic>
          <p:nvPicPr>
            <p:cNvPr id="9" name="Immagine 8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BE984128-9102-CD6A-42BC-0A6BAD539DF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10403211" y="2024147"/>
              <a:ext cx="1484234" cy="1476207"/>
            </a:xfrm>
            <a:prstGeom prst="rect">
              <a:avLst/>
            </a:prstGeom>
          </p:spPr>
        </p:pic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FEE989C9-4916-83C6-49F6-9522CDB010B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370776" y="-27954"/>
              <a:ext cx="2254609" cy="1782837"/>
              <a:chOff x="7370776" y="-27954"/>
              <a:chExt cx="2254609" cy="1782837"/>
            </a:xfrm>
          </p:grpSpPr>
          <p:pic>
            <p:nvPicPr>
              <p:cNvPr id="12" name="Immagine 11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027BEFA4-7B6A-F786-77F8-77ED65E2B87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322" b="32322"/>
              <a:stretch>
                <a:fillRect/>
              </a:stretch>
            </p:blipFill>
            <p:spPr>
              <a:xfrm rot="13487443">
                <a:off x="7370776" y="-27954"/>
                <a:ext cx="1845321" cy="756417"/>
              </a:xfrm>
              <a:prstGeom prst="rect">
                <a:avLst/>
              </a:prstGeom>
            </p:spPr>
          </p:pic>
          <p:pic>
            <p:nvPicPr>
              <p:cNvPr id="13" name="Immagine 12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9E432BDA-FFFE-7FA2-1783-55CFCFE970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417" r="51285" b="32321"/>
              <a:stretch>
                <a:fillRect/>
              </a:stretch>
            </p:blipFill>
            <p:spPr>
              <a:xfrm rot="2725872" flipV="1">
                <a:off x="8798444" y="927941"/>
                <a:ext cx="898950" cy="754933"/>
              </a:xfrm>
              <a:prstGeom prst="rect">
                <a:avLst/>
              </a:prstGeom>
            </p:spPr>
          </p:pic>
        </p:grp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6A5FE430-6511-F763-493D-C11D5D01BB9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520237" y="-995455"/>
              <a:ext cx="1675214" cy="2447223"/>
              <a:chOff x="10520237" y="-995455"/>
              <a:chExt cx="1675214" cy="2447223"/>
            </a:xfrm>
          </p:grpSpPr>
          <p:pic>
            <p:nvPicPr>
              <p:cNvPr id="10" name="Immagine 9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04753B21-85AF-4253-27ED-813760FF03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8877315">
                <a:off x="10377537" y="-852755"/>
                <a:ext cx="1762029" cy="1476630"/>
              </a:xfrm>
              <a:prstGeom prst="rect">
                <a:avLst/>
              </a:prstGeom>
            </p:spPr>
          </p:pic>
          <p:pic>
            <p:nvPicPr>
              <p:cNvPr id="27" name="Immagine 26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7AF4BF8A-05BE-2A04-FB0F-9616EB5BB2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7276" b="-1"/>
              <a:stretch>
                <a:fillRect/>
              </a:stretch>
            </p:blipFill>
            <p:spPr>
              <a:xfrm rot="18873300" flipV="1">
                <a:off x="11072830" y="329148"/>
                <a:ext cx="1762029" cy="483212"/>
              </a:xfrm>
              <a:prstGeom prst="rect">
                <a:avLst/>
              </a:prstGeom>
            </p:spPr>
          </p:pic>
        </p:grpSp>
        <p:pic>
          <p:nvPicPr>
            <p:cNvPr id="31" name="Immagine 30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F3AA1FEC-ABAB-CCE3-4CC1-488224AC0E0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71138"/>
            <a:stretch>
              <a:fillRect/>
            </a:stretch>
          </p:blipFill>
          <p:spPr>
            <a:xfrm rot="18922596" flipV="1">
              <a:off x="11590532" y="1334821"/>
              <a:ext cx="508373" cy="1476207"/>
            </a:xfrm>
            <a:prstGeom prst="rect">
              <a:avLst/>
            </a:prstGeom>
          </p:spPr>
        </p:pic>
      </p:grpSp>
      <p:sp>
        <p:nvSpPr>
          <p:cNvPr id="34" name="Rectangle 2">
            <a:extLst>
              <a:ext uri="{FF2B5EF4-FFF2-40B4-BE49-F238E27FC236}">
                <a16:creationId xmlns:a16="http://schemas.microsoft.com/office/drawing/2014/main" id="{09A5E1A2-3F14-F980-2879-D8E905753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997" y="4638060"/>
            <a:ext cx="295619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Metrics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absolute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/</a:t>
            </a:r>
            <a:r>
              <a:rPr kumimoji="0" lang="it-IT" altLang="it-IT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relative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error</a:t>
            </a:r>
            <a:endParaRPr lang="it-IT" altLang="it-IT" sz="2000" dirty="0">
              <a:latin typeface="Franklin Gothic Book" panose="020B05030201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speed-up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Segnaposto tabella 2">
                <a:extLst>
                  <a:ext uri="{FF2B5EF4-FFF2-40B4-BE49-F238E27FC236}">
                    <a16:creationId xmlns:a16="http://schemas.microsoft.com/office/drawing/2014/main" id="{40F251FE-19CC-34ED-95D1-16DC7652BEA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63101691"/>
                  </p:ext>
                </p:extLst>
              </p:nvPr>
            </p:nvGraphicFramePr>
            <p:xfrm>
              <a:off x="938118" y="564923"/>
              <a:ext cx="6576145" cy="381654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99747">
                      <a:extLst>
                        <a:ext uri="{9D8B030D-6E8A-4147-A177-3AD203B41FA5}">
                          <a16:colId xmlns:a16="http://schemas.microsoft.com/office/drawing/2014/main" val="127040821"/>
                        </a:ext>
                      </a:extLst>
                    </a:gridCol>
                    <a:gridCol w="4976398">
                      <a:extLst>
                        <a:ext uri="{9D8B030D-6E8A-4147-A177-3AD203B41FA5}">
                          <a16:colId xmlns:a16="http://schemas.microsoft.com/office/drawing/2014/main" val="149845700"/>
                        </a:ext>
                      </a:extLst>
                    </a:gridCol>
                  </a:tblGrid>
                  <a:tr h="77942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i="0" dirty="0">
                              <a:latin typeface="Franklin Gothic Book" panose="020B0503020102020204" pitchFamily="34" charset="0"/>
                            </a:rPr>
                            <a:t>FOM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FEM: P2 </a:t>
                          </a:r>
                          <a:r>
                            <a:rPr lang="it-IT" b="0" dirty="0" err="1"/>
                            <a:t>elements</a:t>
                          </a:r>
                          <a:r>
                            <a:rPr lang="it-IT" b="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ax</m:t>
                                  </m:r>
                                </m:sub>
                              </m:s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=0.0001</m:t>
                              </m:r>
                            </m:oMath>
                          </a14:m>
                          <a:endParaRPr lang="it-IT" b="0" dirty="0"/>
                        </a:p>
                        <a:p>
                          <a:pPr algn="ctr" rtl="0"/>
                          <a:r>
                            <a:rPr lang="it-IT" b="0" dirty="0"/>
                            <a:t>Newton </a:t>
                          </a:r>
                          <a:r>
                            <a:rPr lang="it-IT" b="0" dirty="0" err="1"/>
                            <a:t>iterations</a:t>
                          </a:r>
                          <a:r>
                            <a:rPr lang="it-IT" b="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𝑡𝑜𝑙</m:t>
                              </m:r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-6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𝑚𝑎𝑥𝐼</m:t>
                              </m:r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=100</m:t>
                              </m:r>
                            </m:oMath>
                          </a14:m>
                          <a:r>
                            <a:rPr lang="it-IT" b="0" dirty="0"/>
                            <a:t>), </a:t>
                          </a:r>
                          <a:endParaRPr lang="it-IT" b="0" dirty="0">
                            <a:latin typeface="+mj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8013591"/>
                      </a:ext>
                    </a:extLst>
                  </a:tr>
                  <a:tr h="101186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en-US" dirty="0"/>
                            <a:t>100 snapshots, </a:t>
                          </a:r>
                        </a:p>
                        <a:p>
                          <a:pPr algn="ctr" rtl="0"/>
                          <a:r>
                            <a:rPr lang="en-US" dirty="0"/>
                            <a:t>up to 10 modes </a:t>
                          </a:r>
                          <a:r>
                            <a:rPr lang="en-US" dirty="0" err="1"/>
                            <a:t>s.t.</a:t>
                          </a:r>
                          <a:r>
                            <a:rPr lang="en-US" dirty="0"/>
                            <a:t> energy threshold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-7</m:t>
                                  </m:r>
                                </m:sup>
                              </m:sSup>
                            </m:oMath>
                          </a14:m>
                          <a:endParaRPr lang="it-IT" b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86793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PINN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dirty="0"/>
                            <a:t>FCNN, 5×50 </a:t>
                          </a:r>
                          <a:r>
                            <a:rPr lang="it-IT" dirty="0" err="1"/>
                            <a:t>neurons</a:t>
                          </a:r>
                          <a:r>
                            <a:rPr lang="it-IT" dirty="0"/>
                            <a:t>, </a:t>
                          </a:r>
                          <a:r>
                            <a:rPr lang="it-IT" dirty="0" err="1"/>
                            <a:t>tanh</a:t>
                          </a:r>
                          <a:r>
                            <a:rPr lang="it-IT" dirty="0"/>
                            <a:t>, </a:t>
                          </a:r>
                        </a:p>
                        <a:p>
                          <a:pPr algn="ctr" rtl="0"/>
                          <a:r>
                            <a:rPr lang="it-IT" dirty="0"/>
                            <a:t>10k </a:t>
                          </a:r>
                          <a:r>
                            <a:rPr lang="it-IT" dirty="0" err="1"/>
                            <a:t>internal</a:t>
                          </a:r>
                          <a:r>
                            <a:rPr lang="it-IT" dirty="0"/>
                            <a:t> + 10k </a:t>
                          </a:r>
                          <a:r>
                            <a:rPr lang="it-IT" dirty="0" err="1"/>
                            <a:t>boundary</a:t>
                          </a:r>
                          <a:r>
                            <a:rPr lang="it-IT" dirty="0"/>
                            <a:t> points, </a:t>
                          </a:r>
                        </a:p>
                        <a:p>
                          <a:pPr algn="ctr" rtl="0"/>
                          <a:r>
                            <a:rPr lang="it-IT" dirty="0"/>
                            <a:t>Adam </a:t>
                          </a:r>
                          <a14:m>
                            <m:oMath xmlns:m="http://schemas.openxmlformats.org/officeDocument/2006/math">
                              <m:r>
                                <a:rPr lang="it-IT" i="1" dirty="0" smtClean="0">
                                  <a:latin typeface="Cambria Math" panose="02040503050406030204" pitchFamily="18" charset="0"/>
                                </a:rPr>
                                <m:t>𝑙𝑟</m:t>
                              </m:r>
                              <m:r>
                                <a:rPr lang="it-IT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-</m:t>
                                  </m:r>
                                  <m: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/>
                            <a:t>, 500k </a:t>
                          </a:r>
                          <a:r>
                            <a:rPr lang="it-IT" dirty="0" err="1"/>
                            <a:t>epochs</a:t>
                          </a:r>
                          <a:endParaRPr lang="it-IT" b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0977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POD-NN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dirty="0"/>
                            <a:t>POD </a:t>
                          </a:r>
                          <a:r>
                            <a:rPr lang="it-IT" dirty="0" err="1"/>
                            <a:t>basis</a:t>
                          </a:r>
                          <a:r>
                            <a:rPr lang="it-IT" dirty="0"/>
                            <a:t> (1000 snapshots), </a:t>
                          </a:r>
                        </a:p>
                        <a:p>
                          <a:pPr algn="ctr" rtl="0"/>
                          <a:r>
                            <a:rPr lang="it-IT" dirty="0"/>
                            <a:t>FCNN 5×50, </a:t>
                          </a:r>
                          <a:r>
                            <a:rPr lang="it-IT" dirty="0" err="1"/>
                            <a:t>tanh</a:t>
                          </a:r>
                          <a:r>
                            <a:rPr lang="it-IT" dirty="0"/>
                            <a:t>, training set 1000 samples, </a:t>
                          </a:r>
                        </a:p>
                        <a:p>
                          <a:pPr algn="ctr" rtl="0"/>
                          <a:r>
                            <a:rPr lang="it-IT" dirty="0"/>
                            <a:t>Adam </a:t>
                          </a:r>
                          <a14:m>
                            <m:oMath xmlns:m="http://schemas.openxmlformats.org/officeDocument/2006/math">
                              <m:r>
                                <a:rPr lang="it-IT" i="1" dirty="0" smtClean="0">
                                  <a:latin typeface="Cambria Math" panose="02040503050406030204" pitchFamily="18" charset="0"/>
                                </a:rPr>
                                <m:t>𝑙𝑟</m:t>
                              </m:r>
                              <m:r>
                                <a:rPr lang="it-IT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-</m:t>
                                  </m:r>
                                  <m: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/>
                            <a:t>, 500k </a:t>
                          </a:r>
                          <a:r>
                            <a:rPr lang="it-IT" dirty="0" err="1"/>
                            <a:t>epochs</a:t>
                          </a:r>
                          <a:endParaRPr lang="it-IT" b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0312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Segnaposto tabella 2">
                <a:extLst>
                  <a:ext uri="{FF2B5EF4-FFF2-40B4-BE49-F238E27FC236}">
                    <a16:creationId xmlns:a16="http://schemas.microsoft.com/office/drawing/2014/main" id="{40F251FE-19CC-34ED-95D1-16DC7652BEA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63101691"/>
                  </p:ext>
                </p:extLst>
              </p:nvPr>
            </p:nvGraphicFramePr>
            <p:xfrm>
              <a:off x="938118" y="564923"/>
              <a:ext cx="6576145" cy="381654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99747">
                      <a:extLst>
                        <a:ext uri="{9D8B030D-6E8A-4147-A177-3AD203B41FA5}">
                          <a16:colId xmlns:a16="http://schemas.microsoft.com/office/drawing/2014/main" val="127040821"/>
                        </a:ext>
                      </a:extLst>
                    </a:gridCol>
                    <a:gridCol w="4976398">
                      <a:extLst>
                        <a:ext uri="{9D8B030D-6E8A-4147-A177-3AD203B41FA5}">
                          <a16:colId xmlns:a16="http://schemas.microsoft.com/office/drawing/2014/main" val="149845700"/>
                        </a:ext>
                      </a:extLst>
                    </a:gridCol>
                  </a:tblGrid>
                  <a:tr h="77942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i="0" dirty="0">
                              <a:latin typeface="Franklin Gothic Book" panose="020B0503020102020204" pitchFamily="34" charset="0"/>
                            </a:rPr>
                            <a:t>FOM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2191" b="-3960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8013591"/>
                      </a:ext>
                    </a:extLst>
                  </a:tr>
                  <a:tr h="101186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2191" t="-77108" b="-205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86793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PINN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2191" t="-176048" b="-1041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0977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POD-NN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B4684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2191" t="-277711" b="-48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0312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3754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5">
            <a:extLst>
              <a:ext uri="{FF2B5EF4-FFF2-40B4-BE49-F238E27FC236}">
                <a16:creationId xmlns:a16="http://schemas.microsoft.com/office/drawing/2014/main" id="{2DA72DC1-6C97-2E60-D1BE-20CD060969A3}"/>
              </a:ext>
            </a:extLst>
          </p:cNvPr>
          <p:cNvSpPr txBox="1">
            <a:spLocks/>
          </p:cNvSpPr>
          <p:nvPr/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Results</a:t>
            </a:r>
            <a:r>
              <a:rPr kumimoji="0" lang="it-IT" sz="4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 – Case 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3">
                <a:extLst>
                  <a:ext uri="{FF2B5EF4-FFF2-40B4-BE49-F238E27FC236}">
                    <a16:creationId xmlns:a16="http://schemas.microsoft.com/office/drawing/2014/main" id="{717B20D1-4F3F-D3F6-A153-2BD65DD8A2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836" y="636125"/>
                <a:ext cx="3810799" cy="881917"/>
              </a:xfrm>
              <a:prstGeom prst="rect">
                <a:avLst/>
              </a:prstGeom>
            </p:spPr>
            <p:txBody>
              <a:bodyPr vert="horz" lIns="0" tIns="274320" rIns="91440" bIns="45720" rtlCol="0">
                <a:normAutofit/>
              </a:bodyPr>
              <a:lstStyle>
                <a:defPPr>
                  <a:defRPr lang="it-IT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m:rPr>
                          <m:aln/>
                        </m:rPr>
                        <a:rPr lang="es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s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func>
                        <m:funcPr>
                          <m:ctrlPr>
                            <a:rPr lang="es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func>
                        <m:funcPr>
                          <m:ctrlPr>
                            <a:rPr lang="es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Segnaposto contenuto 3">
                <a:extLst>
                  <a:ext uri="{FF2B5EF4-FFF2-40B4-BE49-F238E27FC236}">
                    <a16:creationId xmlns:a16="http://schemas.microsoft.com/office/drawing/2014/main" id="{717B20D1-4F3F-D3F6-A153-2BD65DD8A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36" y="636125"/>
                <a:ext cx="3810799" cy="881917"/>
              </a:xfrm>
              <a:prstGeom prst="rect">
                <a:avLst/>
              </a:prstGeom>
              <a:blipFill>
                <a:blip r:embed="rId2"/>
                <a:stretch>
                  <a:fillRect l="-12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Segnaposto tabella 2">
                <a:extLst>
                  <a:ext uri="{FF2B5EF4-FFF2-40B4-BE49-F238E27FC236}">
                    <a16:creationId xmlns:a16="http://schemas.microsoft.com/office/drawing/2014/main" id="{D818CC32-77C6-A7E5-EFD1-43360C15F8D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44199120"/>
                  </p:ext>
                </p:extLst>
              </p:nvPr>
            </p:nvGraphicFramePr>
            <p:xfrm>
              <a:off x="5240593" y="584005"/>
              <a:ext cx="5879692" cy="395152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469923">
                      <a:extLst>
                        <a:ext uri="{9D8B030D-6E8A-4147-A177-3AD203B41FA5}">
                          <a16:colId xmlns:a16="http://schemas.microsoft.com/office/drawing/2014/main" val="127040821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149845700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119692462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472639139"/>
                        </a:ext>
                      </a:extLst>
                    </a:gridCol>
                  </a:tblGrid>
                  <a:tr h="77942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i="1" dirty="0">
                              <a:latin typeface="+mj-lt"/>
                            </a:rPr>
                            <a:t>Method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 err="1">
                              <a:latin typeface="+mj-lt"/>
                            </a:rPr>
                            <a:t>Avg</a:t>
                          </a:r>
                          <a:r>
                            <a:rPr lang="it-IT" b="1" dirty="0">
                              <a:latin typeface="+mj-lt"/>
                            </a:rPr>
                            <a:t> Relative </a:t>
                          </a:r>
                          <a:r>
                            <a:rPr lang="it-IT" b="1" dirty="0" err="1">
                              <a:latin typeface="+mj-lt"/>
                            </a:rPr>
                            <a:t>Error</a:t>
                          </a:r>
                          <a:endParaRPr lang="it-IT" b="1" dirty="0">
                            <a:latin typeface="+mj-lt"/>
                          </a:endParaRPr>
                        </a:p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b="0" i="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800" b="0" i="1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  <m:r>
                                  <a:rPr lang="it-IT" sz="1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b="1" dirty="0">
                            <a:latin typeface="+mj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 err="1">
                              <a:latin typeface="+mj-lt"/>
                            </a:rPr>
                            <a:t>Avg</a:t>
                          </a:r>
                          <a:r>
                            <a:rPr lang="it-IT" b="1" dirty="0">
                              <a:latin typeface="+mj-lt"/>
                            </a:rPr>
                            <a:t> Absolute </a:t>
                          </a:r>
                          <a:r>
                            <a:rPr lang="it-IT" b="1" dirty="0" err="1">
                              <a:latin typeface="+mj-lt"/>
                            </a:rPr>
                            <a:t>Error</a:t>
                          </a:r>
                          <a:endParaRPr lang="it-IT" b="1" dirty="0">
                            <a:latin typeface="+mj-lt"/>
                          </a:endParaRPr>
                        </a:p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(×</m:t>
                                </m:r>
                                <m:sSup>
                                  <m:sSupPr>
                                    <m:ctrlPr>
                                      <a:rPr lang="it-IT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it-IT" b="0" i="1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b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 err="1">
                              <a:latin typeface="+mj-lt"/>
                            </a:rPr>
                            <a:t>Avg</a:t>
                          </a:r>
                          <a:endParaRPr lang="it-IT" b="1" dirty="0">
                            <a:latin typeface="+mj-lt"/>
                          </a:endParaRPr>
                        </a:p>
                        <a:p>
                          <a:pPr algn="ctr" rtl="0"/>
                          <a:r>
                            <a:rPr lang="it-IT" b="1" dirty="0">
                              <a:latin typeface="+mj-lt"/>
                            </a:rPr>
                            <a:t>Speed-Up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8013591"/>
                      </a:ext>
                    </a:extLst>
                  </a:tr>
                  <a:tr h="101186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0.771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0.355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1.190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86793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PINN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8.443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3.895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70.327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0977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POD-NN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0.820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0.378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216.336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0312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Segnaposto tabella 2">
                <a:extLst>
                  <a:ext uri="{FF2B5EF4-FFF2-40B4-BE49-F238E27FC236}">
                    <a16:creationId xmlns:a16="http://schemas.microsoft.com/office/drawing/2014/main" id="{D818CC32-77C6-A7E5-EFD1-43360C15F8D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44199120"/>
                  </p:ext>
                </p:extLst>
              </p:nvPr>
            </p:nvGraphicFramePr>
            <p:xfrm>
              <a:off x="5240593" y="584005"/>
              <a:ext cx="5879692" cy="395152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469923">
                      <a:extLst>
                        <a:ext uri="{9D8B030D-6E8A-4147-A177-3AD203B41FA5}">
                          <a16:colId xmlns:a16="http://schemas.microsoft.com/office/drawing/2014/main" val="127040821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149845700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119692462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472639139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i="1" dirty="0">
                              <a:latin typeface="+mj-lt"/>
                            </a:rPr>
                            <a:t>Method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415" t="-2667" r="-200415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587" t="-2667" r="-99587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 err="1">
                              <a:latin typeface="+mj-lt"/>
                            </a:rPr>
                            <a:t>Avg</a:t>
                          </a:r>
                          <a:endParaRPr lang="it-IT" b="1" dirty="0">
                            <a:latin typeface="+mj-lt"/>
                          </a:endParaRPr>
                        </a:p>
                        <a:p>
                          <a:pPr algn="ctr" rtl="0"/>
                          <a:r>
                            <a:rPr lang="it-IT" b="1" dirty="0">
                              <a:latin typeface="+mj-lt"/>
                            </a:rPr>
                            <a:t>Speed-Up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8013591"/>
                      </a:ext>
                    </a:extLst>
                  </a:tr>
                  <a:tr h="101186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0.771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0.355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1.190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86793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PINN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8.443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3.895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70.327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0977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1" dirty="0"/>
                            <a:t>POD-NN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0.820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0.378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b="0" dirty="0"/>
                            <a:t>216.336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0312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ttangolo 6">
            <a:extLst>
              <a:ext uri="{FF2B5EF4-FFF2-40B4-BE49-F238E27FC236}">
                <a16:creationId xmlns:a16="http://schemas.microsoft.com/office/drawing/2014/main" id="{B4CC5868-9B24-98E0-7FBE-5ACBC461F514}"/>
              </a:ext>
            </a:extLst>
          </p:cNvPr>
          <p:cNvSpPr/>
          <p:nvPr/>
        </p:nvSpPr>
        <p:spPr>
          <a:xfrm>
            <a:off x="3670300" y="6273800"/>
            <a:ext cx="2548035" cy="102636"/>
          </a:xfrm>
          <a:prstGeom prst="rect">
            <a:avLst/>
          </a:prstGeom>
          <a:solidFill>
            <a:srgbClr val="3B4684"/>
          </a:solidFill>
          <a:ln>
            <a:solidFill>
              <a:srgbClr val="3B46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DA45DC0-CFD2-F3ED-B9CD-56FC5DA27633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-638136" y="3486150"/>
            <a:ext cx="3574289" cy="4284000"/>
            <a:chOff x="-1149646" y="729342"/>
            <a:chExt cx="6501198" cy="7792076"/>
          </a:xfrm>
        </p:grpSpPr>
        <p:pic>
          <p:nvPicPr>
            <p:cNvPr id="15" name="Immagine 14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EEE224BA-1592-D63B-976A-09C7D0A3E56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6" name="Immagine 15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2680ED00-9650-1B91-A37C-0A817A837B6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8A27C16D-E6E2-827F-9698-7145195D82E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8" name="Immagine 17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0A56B7DD-C897-B7F2-AE55-AA4E1338CB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9" name="Immagine 18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7BDE6C8D-D557-16FD-57D0-DAB068AFF6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C56224E-0C4C-2CE6-26FB-9F3410DC10FB}"/>
              </a:ext>
            </a:extLst>
          </p:cNvPr>
          <p:cNvSpPr txBox="1"/>
          <p:nvPr/>
        </p:nvSpPr>
        <p:spPr>
          <a:xfrm>
            <a:off x="730836" y="1920218"/>
            <a:ext cx="421348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Franklin Gothic Book" panose="020B0503020102020204" pitchFamily="34" charset="0"/>
              </a:rPr>
              <a:t>POD</a:t>
            </a:r>
            <a:r>
              <a:rPr lang="it-IT" sz="2000" dirty="0">
                <a:latin typeface="Franklin Gothic Book" panose="020B0503020102020204" pitchFamily="34" charset="0"/>
              </a:rPr>
              <a:t>: </a:t>
            </a:r>
            <a:r>
              <a:rPr lang="it-IT" sz="2000" i="1" dirty="0">
                <a:latin typeface="Franklin Gothic Book" panose="020B0503020102020204" pitchFamily="34" charset="0"/>
              </a:rPr>
              <a:t>best</a:t>
            </a:r>
            <a:r>
              <a:rPr lang="it-IT" sz="2000" dirty="0">
                <a:latin typeface="Franklin Gothic Book" panose="020B0503020102020204" pitchFamily="34" charset="0"/>
              </a:rPr>
              <a:t> </a:t>
            </a:r>
            <a:r>
              <a:rPr lang="it-IT" sz="2000" i="1" dirty="0" err="1">
                <a:latin typeface="Franklin Gothic Book" panose="020B0503020102020204" pitchFamily="34" charset="0"/>
              </a:rPr>
              <a:t>accuracy</a:t>
            </a:r>
            <a:r>
              <a:rPr lang="it-IT" sz="2000" dirty="0">
                <a:latin typeface="Franklin Gothic Book" panose="020B0503020102020204" pitchFamily="34" charset="0"/>
              </a:rPr>
              <a:t>, </a:t>
            </a:r>
            <a:r>
              <a:rPr lang="it-IT" sz="2000" i="1" dirty="0" err="1">
                <a:latin typeface="Franklin Gothic Book" panose="020B0503020102020204" pitchFamily="34" charset="0"/>
              </a:rPr>
              <a:t>negligible</a:t>
            </a:r>
            <a:r>
              <a:rPr lang="it-IT" sz="2000" dirty="0">
                <a:latin typeface="Franklin Gothic Book" panose="020B0503020102020204" pitchFamily="34" charset="0"/>
              </a:rPr>
              <a:t> </a:t>
            </a:r>
            <a:r>
              <a:rPr lang="it-IT" sz="2000" i="1" dirty="0">
                <a:latin typeface="Franklin Gothic Book" panose="020B0503020102020204" pitchFamily="34" charset="0"/>
              </a:rPr>
              <a:t>speed-up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000" b="1" dirty="0">
                <a:latin typeface="Franklin Gothic Book" panose="020B0503020102020204" pitchFamily="34" charset="0"/>
              </a:rPr>
              <a:t>PINN</a:t>
            </a:r>
            <a:r>
              <a:rPr lang="it-IT" sz="2000" dirty="0">
                <a:latin typeface="Franklin Gothic Book" panose="020B0503020102020204" pitchFamily="34" charset="0"/>
              </a:rPr>
              <a:t>: </a:t>
            </a:r>
            <a:r>
              <a:rPr lang="it-IT" sz="2000" i="1" dirty="0" err="1">
                <a:latin typeface="Franklin Gothic Book" panose="020B0503020102020204" pitchFamily="34" charset="0"/>
              </a:rPr>
              <a:t>very</a:t>
            </a:r>
            <a:r>
              <a:rPr lang="it-IT" sz="2000" i="1" dirty="0">
                <a:latin typeface="Franklin Gothic Book" panose="020B0503020102020204" pitchFamily="34" charset="0"/>
              </a:rPr>
              <a:t> fast </a:t>
            </a:r>
            <a:r>
              <a:rPr lang="it-IT" sz="2000" dirty="0">
                <a:latin typeface="Franklin Gothic Book" panose="020B0503020102020204" pitchFamily="34" charset="0"/>
              </a:rPr>
              <a:t>(after training), </a:t>
            </a:r>
            <a:r>
              <a:rPr lang="it-IT" sz="2000" i="1" dirty="0" err="1">
                <a:latin typeface="Franklin Gothic Book" panose="020B0503020102020204" pitchFamily="34" charset="0"/>
              </a:rPr>
              <a:t>accuracy</a:t>
            </a:r>
            <a:r>
              <a:rPr lang="en-US" sz="2000" dirty="0">
                <a:latin typeface="Franklin Gothic Book" panose="020B0503020102020204" pitchFamily="34" charset="0"/>
              </a:rPr>
              <a:t> ~1 order </a:t>
            </a:r>
            <a:r>
              <a:rPr lang="en-US" sz="2000" i="1" dirty="0">
                <a:latin typeface="Franklin Gothic Book" panose="020B0503020102020204" pitchFamily="34" charset="0"/>
              </a:rPr>
              <a:t>worse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000" b="1" dirty="0">
                <a:latin typeface="Franklin Gothic Book" panose="020B0503020102020204" pitchFamily="34" charset="0"/>
              </a:rPr>
              <a:t>POD-NN</a:t>
            </a:r>
            <a:r>
              <a:rPr lang="it-IT" sz="2000" dirty="0">
                <a:latin typeface="Franklin Gothic Book" panose="020B0503020102020204" pitchFamily="34" charset="0"/>
              </a:rPr>
              <a:t>: </a:t>
            </a:r>
            <a:r>
              <a:rPr lang="it-IT" sz="2000" i="1" dirty="0">
                <a:latin typeface="Franklin Gothic Book" panose="020B0503020102020204" pitchFamily="34" charset="0"/>
              </a:rPr>
              <a:t>best compromise</a:t>
            </a:r>
            <a:r>
              <a:rPr lang="it-IT" sz="2000" dirty="0">
                <a:latin typeface="Franklin Gothic Book" panose="020B0503020102020204" pitchFamily="34" charset="0"/>
              </a:rPr>
              <a:t>, </a:t>
            </a:r>
            <a:r>
              <a:rPr lang="en-US" sz="2000" dirty="0">
                <a:latin typeface="Franklin Gothic Book" panose="020B0503020102020204" pitchFamily="34" charset="0"/>
              </a:rPr>
              <a:t>POD-like accuracy and strong speed-up</a:t>
            </a:r>
            <a:endParaRPr lang="it-IT" sz="20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45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2979-EB51-D2F1-0F35-1CE93A35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5">
            <a:extLst>
              <a:ext uri="{FF2B5EF4-FFF2-40B4-BE49-F238E27FC236}">
                <a16:creationId xmlns:a16="http://schemas.microsoft.com/office/drawing/2014/main" id="{045EC1E1-5B76-7CB7-C829-96C6830B6077}"/>
              </a:ext>
            </a:extLst>
          </p:cNvPr>
          <p:cNvSpPr txBox="1">
            <a:spLocks/>
          </p:cNvSpPr>
          <p:nvPr/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Results</a:t>
            </a:r>
            <a:r>
              <a:rPr kumimoji="0" lang="it-IT" sz="4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 – Case 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3">
                <a:extLst>
                  <a:ext uri="{FF2B5EF4-FFF2-40B4-BE49-F238E27FC236}">
                    <a16:creationId xmlns:a16="http://schemas.microsoft.com/office/drawing/2014/main" id="{D3053D18-0FA1-D73D-D117-878C62496B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0898" y="584005"/>
                <a:ext cx="4243419" cy="881917"/>
              </a:xfrm>
              <a:prstGeom prst="rect">
                <a:avLst/>
              </a:prstGeom>
            </p:spPr>
            <p:txBody>
              <a:bodyPr vert="horz" lIns="0" tIns="274320" rIns="91440" bIns="45720" rtlCol="0">
                <a:normAutofit fontScale="85000" lnSpcReduction="10000"/>
              </a:bodyPr>
              <a:lstStyle>
                <a:defPPr>
                  <a:defRPr lang="it-IT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it-IT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it-IT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de-D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bSup>
                      <m:d>
                        <m:dPr>
                          <m:ctrlPr>
                            <a:rPr lang="de-D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de-DE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≡100</m:t>
                      </m:r>
                      <m:func>
                        <m:funcPr>
                          <m:ctrlPr>
                            <a:rPr lang="de-D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func>
                        <m:funcPr>
                          <m:ctrlPr>
                            <a:rPr lang="de-D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Segnaposto contenuto 3">
                <a:extLst>
                  <a:ext uri="{FF2B5EF4-FFF2-40B4-BE49-F238E27FC236}">
                    <a16:creationId xmlns:a16="http://schemas.microsoft.com/office/drawing/2014/main" id="{D3053D18-0FA1-D73D-D117-878C62496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98" y="584005"/>
                <a:ext cx="4243419" cy="881917"/>
              </a:xfrm>
              <a:prstGeom prst="rect">
                <a:avLst/>
              </a:prstGeom>
              <a:blipFill>
                <a:blip r:embed="rId2"/>
                <a:stretch>
                  <a:fillRect l="-8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Segnaposto tabella 2">
                <a:extLst>
                  <a:ext uri="{FF2B5EF4-FFF2-40B4-BE49-F238E27FC236}">
                    <a16:creationId xmlns:a16="http://schemas.microsoft.com/office/drawing/2014/main" id="{5AA8052D-A76D-F79F-0BAF-6D3615F6C7B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7191770"/>
                  </p:ext>
                </p:extLst>
              </p:nvPr>
            </p:nvGraphicFramePr>
            <p:xfrm>
              <a:off x="5240593" y="584005"/>
              <a:ext cx="5879692" cy="393828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469923">
                      <a:extLst>
                        <a:ext uri="{9D8B030D-6E8A-4147-A177-3AD203B41FA5}">
                          <a16:colId xmlns:a16="http://schemas.microsoft.com/office/drawing/2014/main" val="127040821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149845700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119692462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472639139"/>
                        </a:ext>
                      </a:extLst>
                    </a:gridCol>
                  </a:tblGrid>
                  <a:tr h="77942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i="1" dirty="0">
                              <a:latin typeface="+mj-lt"/>
                            </a:rPr>
                            <a:t>Method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 err="1">
                              <a:latin typeface="+mj-lt"/>
                            </a:rPr>
                            <a:t>Avg</a:t>
                          </a:r>
                          <a:r>
                            <a:rPr lang="it-IT" sz="1800" b="1" dirty="0">
                              <a:latin typeface="+mj-lt"/>
                            </a:rPr>
                            <a:t> Relative </a:t>
                          </a:r>
                          <a:r>
                            <a:rPr lang="it-IT" sz="1800" b="1" dirty="0" err="1">
                              <a:latin typeface="+mj-lt"/>
                            </a:rPr>
                            <a:t>Error</a:t>
                          </a:r>
                          <a:endParaRPr lang="it-IT" sz="1800" b="1" dirty="0">
                            <a:latin typeface="+mj-lt"/>
                          </a:endParaRPr>
                        </a:p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b="0" i="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800" b="0" i="1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  <m:r>
                                  <a:rPr lang="it-IT" sz="1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1800" b="0" dirty="0">
                            <a:latin typeface="+mj-lt"/>
                          </a:endParaRP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 err="1">
                              <a:latin typeface="+mj-lt"/>
                            </a:rPr>
                            <a:t>Avg</a:t>
                          </a:r>
                          <a:r>
                            <a:rPr lang="it-IT" sz="1800" b="1" dirty="0">
                              <a:latin typeface="+mj-lt"/>
                            </a:rPr>
                            <a:t> Absolute </a:t>
                          </a:r>
                          <a:r>
                            <a:rPr lang="it-IT" sz="1800" b="1" dirty="0" err="1">
                              <a:latin typeface="+mj-lt"/>
                            </a:rPr>
                            <a:t>Error</a:t>
                          </a:r>
                          <a:endParaRPr lang="it-IT" sz="1800" b="1" dirty="0">
                            <a:latin typeface="+mj-lt"/>
                          </a:endParaRPr>
                        </a:p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b="0" i="1" dirty="0" smtClean="0">
                                    <a:latin typeface="Cambria Math" panose="02040503050406030204" pitchFamily="18" charset="0"/>
                                  </a:rPr>
                                  <m:t>(×</m:t>
                                </m:r>
                                <m:sSup>
                                  <m:sSupPr>
                                    <m:ctrlP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it-IT" sz="1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1800" b="0" dirty="0"/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 err="1">
                              <a:latin typeface="+mj-lt"/>
                            </a:rPr>
                            <a:t>Avg</a:t>
                          </a:r>
                          <a:r>
                            <a:rPr lang="it-IT" sz="1800" b="1" dirty="0">
                              <a:latin typeface="+mj-lt"/>
                            </a:rPr>
                            <a:t> </a:t>
                          </a:r>
                        </a:p>
                        <a:p>
                          <a:pPr algn="ctr" rtl="0"/>
                          <a:r>
                            <a:rPr lang="it-IT" sz="1800" b="1" dirty="0">
                              <a:latin typeface="+mj-lt"/>
                            </a:rPr>
                            <a:t>Speed-Up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8013591"/>
                      </a:ext>
                    </a:extLst>
                  </a:tr>
                  <a:tr h="101186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/>
                            <a:t>POD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0.584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0.370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1.135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86793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/>
                            <a:t>PINN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26.064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16.131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129.073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0977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/>
                            <a:t>POD-NN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1.621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0.966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408.778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0312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Segnaposto tabella 2">
                <a:extLst>
                  <a:ext uri="{FF2B5EF4-FFF2-40B4-BE49-F238E27FC236}">
                    <a16:creationId xmlns:a16="http://schemas.microsoft.com/office/drawing/2014/main" id="{5AA8052D-A76D-F79F-0BAF-6D3615F6C7B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7191770"/>
                  </p:ext>
                </p:extLst>
              </p:nvPr>
            </p:nvGraphicFramePr>
            <p:xfrm>
              <a:off x="5240593" y="584005"/>
              <a:ext cx="5879692" cy="393828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469923">
                      <a:extLst>
                        <a:ext uri="{9D8B030D-6E8A-4147-A177-3AD203B41FA5}">
                          <a16:colId xmlns:a16="http://schemas.microsoft.com/office/drawing/2014/main" val="127040821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149845700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119692462"/>
                        </a:ext>
                      </a:extLst>
                    </a:gridCol>
                    <a:gridCol w="1469923">
                      <a:extLst>
                        <a:ext uri="{9D8B030D-6E8A-4147-A177-3AD203B41FA5}">
                          <a16:colId xmlns:a16="http://schemas.microsoft.com/office/drawing/2014/main" val="3472639139"/>
                        </a:ext>
                      </a:extLst>
                    </a:gridCol>
                  </a:tblGrid>
                  <a:tr h="90116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i="1" dirty="0">
                              <a:latin typeface="+mj-lt"/>
                            </a:rPr>
                            <a:t>Method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415" t="-3378" r="-200415" b="-3371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587" t="-3378" r="-99587" b="-337162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 err="1">
                              <a:latin typeface="+mj-lt"/>
                            </a:rPr>
                            <a:t>Avg</a:t>
                          </a:r>
                          <a:r>
                            <a:rPr lang="it-IT" sz="1800" b="1" dirty="0">
                              <a:latin typeface="+mj-lt"/>
                            </a:rPr>
                            <a:t> </a:t>
                          </a:r>
                        </a:p>
                        <a:p>
                          <a:pPr algn="ctr" rtl="0"/>
                          <a:r>
                            <a:rPr lang="it-IT" sz="1800" b="1" dirty="0">
                              <a:latin typeface="+mj-lt"/>
                            </a:rPr>
                            <a:t>Speed-Up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8013591"/>
                      </a:ext>
                    </a:extLst>
                  </a:tr>
                  <a:tr h="1011860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/>
                            <a:t>POD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0.584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0.370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1.135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86793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/>
                            <a:t>PINN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26.064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16.131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129.073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09771"/>
                      </a:ext>
                    </a:extLst>
                  </a:tr>
                  <a:tr h="1012632"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1" dirty="0"/>
                            <a:t>POD-NN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1.621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0.966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defPPr>
                            <a:defRPr lang="it-IT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Franklin Gothic Book"/>
                            </a:defRPr>
                          </a:lvl9pPr>
                        </a:lstStyle>
                        <a:p>
                          <a:pPr algn="ctr" rtl="0"/>
                          <a:r>
                            <a:rPr lang="it-IT" sz="1800" b="0" dirty="0"/>
                            <a:t>408.778</a:t>
                          </a:r>
                        </a:p>
                      </a:txBody>
                      <a:tcPr marL="78199" marR="78199" marT="39100" marB="391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EDF1C">
                            <a:alpha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0312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ttangolo 6">
            <a:extLst>
              <a:ext uri="{FF2B5EF4-FFF2-40B4-BE49-F238E27FC236}">
                <a16:creationId xmlns:a16="http://schemas.microsoft.com/office/drawing/2014/main" id="{5D49C83D-4241-0C6B-7BF5-2A5656C00A85}"/>
              </a:ext>
            </a:extLst>
          </p:cNvPr>
          <p:cNvSpPr/>
          <p:nvPr/>
        </p:nvSpPr>
        <p:spPr>
          <a:xfrm>
            <a:off x="3670300" y="6273800"/>
            <a:ext cx="2548035" cy="102636"/>
          </a:xfrm>
          <a:prstGeom prst="rect">
            <a:avLst/>
          </a:prstGeom>
          <a:solidFill>
            <a:srgbClr val="3B4684"/>
          </a:solidFill>
          <a:ln>
            <a:solidFill>
              <a:srgbClr val="3B46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1B29246E-AD18-ACB8-5450-1389F35E9262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-638136" y="3486150"/>
            <a:ext cx="3574289" cy="4284000"/>
            <a:chOff x="-1149646" y="729342"/>
            <a:chExt cx="6501198" cy="7792076"/>
          </a:xfrm>
        </p:grpSpPr>
        <p:pic>
          <p:nvPicPr>
            <p:cNvPr id="15" name="Immagine 14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CA22F326-4C96-7C2D-127D-BD42F2E9CF2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6" name="Immagine 15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F0E182AC-AA68-71AB-FFED-A549AB77663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D7E45AAE-6173-818F-C941-1DC75923C22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8" name="Immagine 17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28801835-238A-45D6-5E5A-85730A3CD5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9" name="Immagine 18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A64BB620-72C0-14E7-3389-B05E24ECBA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9AB4405-CA3A-C3AC-1392-36B8D0BA5656}"/>
              </a:ext>
            </a:extLst>
          </p:cNvPr>
          <p:cNvSpPr txBox="1"/>
          <p:nvPr/>
        </p:nvSpPr>
        <p:spPr>
          <a:xfrm>
            <a:off x="730836" y="1806658"/>
            <a:ext cx="4213481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Franklin Gothic Book" panose="020B0503020102020204" pitchFamily="34" charset="0"/>
              </a:rPr>
              <a:t>Higher complexity </a:t>
            </a:r>
            <a:r>
              <a:rPr lang="en-US" sz="2000" dirty="0">
                <a:latin typeface="Franklin Gothic Book" panose="020B0503020102020204" pitchFamily="34" charset="0"/>
              </a:rPr>
              <a:t>amplifies performance differences:</a:t>
            </a:r>
            <a:endParaRPr lang="it-IT" sz="2000" dirty="0">
              <a:latin typeface="Franklin Gothic Book" panose="020B0503020102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000" b="1" dirty="0">
                <a:latin typeface="Franklin Gothic Book" panose="020B0503020102020204" pitchFamily="34" charset="0"/>
              </a:rPr>
              <a:t>POD</a:t>
            </a:r>
            <a:r>
              <a:rPr lang="it-IT" sz="2000" dirty="0">
                <a:latin typeface="Franklin Gothic Book" panose="020B0503020102020204" pitchFamily="34" charset="0"/>
              </a:rPr>
              <a:t>: </a:t>
            </a:r>
            <a:r>
              <a:rPr lang="it-IT" sz="2000" dirty="0" err="1">
                <a:latin typeface="Franklin Gothic Book" panose="020B0503020102020204" pitchFamily="34" charset="0"/>
              </a:rPr>
              <a:t>keeps</a:t>
            </a:r>
            <a:r>
              <a:rPr lang="it-IT" sz="2000" dirty="0">
                <a:latin typeface="Franklin Gothic Book" panose="020B0503020102020204" pitchFamily="34" charset="0"/>
              </a:rPr>
              <a:t> </a:t>
            </a:r>
            <a:r>
              <a:rPr lang="it-IT" sz="2000" i="1" dirty="0" err="1">
                <a:latin typeface="Franklin Gothic Book" panose="020B0503020102020204" pitchFamily="34" charset="0"/>
              </a:rPr>
              <a:t>highest</a:t>
            </a:r>
            <a:r>
              <a:rPr lang="it-IT" sz="2000" i="1" dirty="0">
                <a:latin typeface="Franklin Gothic Book" panose="020B0503020102020204" pitchFamily="34" charset="0"/>
              </a:rPr>
              <a:t> </a:t>
            </a:r>
            <a:r>
              <a:rPr lang="it-IT" sz="2000" i="1" dirty="0" err="1">
                <a:latin typeface="Franklin Gothic Book" panose="020B0503020102020204" pitchFamily="34" charset="0"/>
              </a:rPr>
              <a:t>accuracy</a:t>
            </a:r>
            <a:r>
              <a:rPr lang="it-IT" sz="2000" dirty="0">
                <a:latin typeface="Franklin Gothic Book" panose="020B0503020102020204" pitchFamily="34" charset="0"/>
              </a:rPr>
              <a:t>, </a:t>
            </a:r>
            <a:r>
              <a:rPr lang="it-IT" sz="2000" dirty="0" err="1">
                <a:latin typeface="Franklin Gothic Book" panose="020B0503020102020204" pitchFamily="34" charset="0"/>
              </a:rPr>
              <a:t>but</a:t>
            </a:r>
            <a:r>
              <a:rPr lang="it-IT" sz="2000" dirty="0">
                <a:latin typeface="Franklin Gothic Book" panose="020B0503020102020204" pitchFamily="34" charset="0"/>
              </a:rPr>
              <a:t> </a:t>
            </a:r>
            <a:r>
              <a:rPr lang="it-IT" sz="2000" i="1" dirty="0">
                <a:latin typeface="Franklin Gothic Book" panose="020B0503020102020204" pitchFamily="34" charset="0"/>
              </a:rPr>
              <a:t>no speed gain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000" b="1" dirty="0">
                <a:latin typeface="Franklin Gothic Book" panose="020B0503020102020204" pitchFamily="34" charset="0"/>
              </a:rPr>
              <a:t>PINN</a:t>
            </a:r>
            <a:r>
              <a:rPr lang="it-IT" sz="2000" dirty="0">
                <a:latin typeface="Franklin Gothic Book" panose="020B0503020102020204" pitchFamily="34" charset="0"/>
              </a:rPr>
              <a:t>: </a:t>
            </a:r>
            <a:r>
              <a:rPr lang="it-IT" sz="2000" i="1" dirty="0">
                <a:latin typeface="Franklin Gothic Book" panose="020B0503020102020204" pitchFamily="34" charset="0"/>
              </a:rPr>
              <a:t>strong speed-up</a:t>
            </a:r>
            <a:r>
              <a:rPr lang="it-IT" sz="2000" dirty="0">
                <a:latin typeface="Franklin Gothic Book" panose="020B0503020102020204" pitchFamily="34" charset="0"/>
              </a:rPr>
              <a:t>, </a:t>
            </a:r>
            <a:r>
              <a:rPr lang="it-IT" sz="2000" dirty="0" err="1">
                <a:latin typeface="Franklin Gothic Book" panose="020B0503020102020204" pitchFamily="34" charset="0"/>
              </a:rPr>
              <a:t>but</a:t>
            </a:r>
            <a:r>
              <a:rPr lang="it-IT" sz="2000" dirty="0">
                <a:latin typeface="Franklin Gothic Book" panose="020B0503020102020204" pitchFamily="34" charset="0"/>
              </a:rPr>
              <a:t> </a:t>
            </a:r>
            <a:r>
              <a:rPr lang="it-IT" sz="2000" i="1" dirty="0" err="1">
                <a:latin typeface="Franklin Gothic Book" panose="020B0503020102020204" pitchFamily="34" charset="0"/>
              </a:rPr>
              <a:t>accuracy</a:t>
            </a:r>
            <a:r>
              <a:rPr lang="it-IT" sz="2000" i="1" dirty="0">
                <a:latin typeface="Franklin Gothic Book" panose="020B0503020102020204" pitchFamily="34" charset="0"/>
              </a:rPr>
              <a:t> </a:t>
            </a:r>
            <a:r>
              <a:rPr lang="it-IT" sz="2000" i="1" dirty="0" err="1">
                <a:latin typeface="Franklin Gothic Book" panose="020B0503020102020204" pitchFamily="34" charset="0"/>
              </a:rPr>
              <a:t>worsens</a:t>
            </a:r>
            <a:r>
              <a:rPr lang="it-IT" sz="2000" i="1" dirty="0">
                <a:latin typeface="Franklin Gothic Book" panose="020B0503020102020204" pitchFamily="34" charset="0"/>
              </a:rPr>
              <a:t> </a:t>
            </a:r>
            <a:r>
              <a:rPr lang="it-IT" sz="2000" dirty="0" err="1">
                <a:latin typeface="Franklin Gothic Book" panose="020B0503020102020204" pitchFamily="34" charset="0"/>
              </a:rPr>
              <a:t>significatly</a:t>
            </a:r>
            <a:endParaRPr lang="it-IT" sz="2000" dirty="0">
              <a:latin typeface="Franklin Gothic Book" panose="020B0503020102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2000" b="1" dirty="0">
                <a:latin typeface="Franklin Gothic Book" panose="020B0503020102020204" pitchFamily="34" charset="0"/>
              </a:rPr>
              <a:t>POD-NN</a:t>
            </a:r>
            <a:r>
              <a:rPr lang="it-IT" sz="2000" dirty="0">
                <a:latin typeface="Franklin Gothic Book" panose="020B0503020102020204" pitchFamily="34" charset="0"/>
              </a:rPr>
              <a:t>: </a:t>
            </a:r>
            <a:r>
              <a:rPr lang="it-IT" sz="2000" dirty="0" err="1">
                <a:latin typeface="Franklin Gothic Book" panose="020B0503020102020204" pitchFamily="34" charset="0"/>
              </a:rPr>
              <a:t>still</a:t>
            </a:r>
            <a:r>
              <a:rPr lang="it-IT" sz="2000" dirty="0">
                <a:latin typeface="Franklin Gothic Book" panose="020B0503020102020204" pitchFamily="34" charset="0"/>
              </a:rPr>
              <a:t> </a:t>
            </a:r>
            <a:r>
              <a:rPr lang="it-IT" sz="2000" i="1" dirty="0">
                <a:latin typeface="Franklin Gothic Book" panose="020B0503020102020204" pitchFamily="34" charset="0"/>
              </a:rPr>
              <a:t>best trade-off</a:t>
            </a:r>
          </a:p>
        </p:txBody>
      </p:sp>
    </p:spTree>
    <p:extLst>
      <p:ext uri="{BB962C8B-B14F-4D97-AF65-F5344CB8AC3E}">
        <p14:creationId xmlns:p14="http://schemas.microsoft.com/office/powerpoint/2010/main" val="1830609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:a16="http://schemas.microsoft.com/office/drawing/2014/main" id="{A1E5B3AB-3D3D-D1A6-AD93-564F189CBBC9}"/>
              </a:ext>
            </a:extLst>
          </p:cNvPr>
          <p:cNvSpPr txBox="1">
            <a:spLocks/>
          </p:cNvSpPr>
          <p:nvPr/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Conclusions</a:t>
            </a:r>
            <a:endParaRPr kumimoji="0" lang="it-IT" sz="44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28565F0-323F-3B1B-D5F5-296C71BD52C4}"/>
              </a:ext>
            </a:extLst>
          </p:cNvPr>
          <p:cNvSpPr/>
          <p:nvPr/>
        </p:nvSpPr>
        <p:spPr>
          <a:xfrm>
            <a:off x="594360" y="2107164"/>
            <a:ext cx="2548035" cy="102636"/>
          </a:xfrm>
          <a:prstGeom prst="rect">
            <a:avLst/>
          </a:prstGeom>
          <a:solidFill>
            <a:srgbClr val="3B4684"/>
          </a:solidFill>
          <a:ln w="12700" cap="flat" cmpd="sng" algn="ctr">
            <a:solidFill>
              <a:srgbClr val="3B46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8E1889E-AE20-1B79-3081-207D862A4B6F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10800000">
            <a:off x="9256466" y="-926120"/>
            <a:ext cx="3574289" cy="4284000"/>
            <a:chOff x="-1149646" y="729342"/>
            <a:chExt cx="6501198" cy="7792076"/>
          </a:xfrm>
        </p:grpSpPr>
        <p:pic>
          <p:nvPicPr>
            <p:cNvPr id="15" name="Immagine 14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5EB126AA-C446-5D6A-E7AE-F35AE574D4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16" name="Immagine 15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ECFAD488-22B9-F5BF-DF2C-08F8F048FA4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A327973B-1C00-D418-FDBB-CF0FCF92D56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8" name="Immagine 17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948088F9-EB28-80F5-9CBE-CA068DA221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9" name="Immagine 18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B2174CA3-BEBE-AFBB-1280-468A469D3C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  <p:pic>
        <p:nvPicPr>
          <p:cNvPr id="24" name="Immagine 23">
            <a:extLst>
              <a:ext uri="{FF2B5EF4-FFF2-40B4-BE49-F238E27FC236}">
                <a16:creationId xmlns:a16="http://schemas.microsoft.com/office/drawing/2014/main" id="{C287E7AB-F7C9-6B74-A7FE-DDE06E00B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825" y="2483850"/>
            <a:ext cx="3192066" cy="2538000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C87C7213-1E4C-566C-B0DE-F3AFB6456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5111" y="2482527"/>
            <a:ext cx="3191091" cy="2537225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1314616-ECF5-DD6B-2B8D-C2307F20E99B}"/>
              </a:ext>
            </a:extLst>
          </p:cNvPr>
          <p:cNvSpPr txBox="1"/>
          <p:nvPr/>
        </p:nvSpPr>
        <p:spPr>
          <a:xfrm>
            <a:off x="2870774" y="5368653"/>
            <a:ext cx="6419972" cy="721802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US" sz="2000" i="1" dirty="0">
                <a:latin typeface="Franklin Gothic Book" panose="020B0503020102020204" pitchFamily="34" charset="0"/>
              </a:rPr>
              <a:t>Overall</a:t>
            </a:r>
            <a:r>
              <a:rPr lang="en-US" sz="2000" dirty="0">
                <a:latin typeface="Franklin Gothic Book" panose="020B0503020102020204" pitchFamily="34" charset="0"/>
              </a:rPr>
              <a:t> : </a:t>
            </a:r>
            <a:r>
              <a:rPr lang="en-US" sz="2000" b="1" dirty="0">
                <a:latin typeface="Franklin Gothic Book" panose="020B0503020102020204" pitchFamily="34" charset="0"/>
              </a:rPr>
              <a:t>POD-NN</a:t>
            </a:r>
            <a:r>
              <a:rPr lang="en-US" sz="2000" dirty="0">
                <a:latin typeface="Franklin Gothic Book" panose="020B0503020102020204" pitchFamily="34" charset="0"/>
              </a:rPr>
              <a:t> emerges as the most promising method when both accuracy and efficiency are required.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B72E51A-74F1-D67E-5725-E24ECDF2DCFA}"/>
              </a:ext>
            </a:extLst>
          </p:cNvPr>
          <p:cNvSpPr txBox="1"/>
          <p:nvPr/>
        </p:nvSpPr>
        <p:spPr>
          <a:xfrm>
            <a:off x="3669714" y="984423"/>
            <a:ext cx="5607373" cy="131409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>
                <a:latin typeface="Franklin Gothic Book" panose="020B0503020102020204" pitchFamily="34" charset="0"/>
              </a:rPr>
              <a:t>POD</a:t>
            </a:r>
            <a:r>
              <a:rPr lang="en-US" sz="2000" dirty="0">
                <a:latin typeface="Franklin Gothic Book" panose="020B0503020102020204" pitchFamily="34" charset="0"/>
              </a:rPr>
              <a:t> remains the preferred method when accuracy is the primary goal;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>
                <a:latin typeface="Franklin Gothic Book" panose="020B0503020102020204" pitchFamily="34" charset="0"/>
              </a:rPr>
              <a:t>PINN</a:t>
            </a:r>
            <a:r>
              <a:rPr lang="en-US" sz="2000" dirty="0">
                <a:latin typeface="Franklin Gothic Book" panose="020B0503020102020204" pitchFamily="34" charset="0"/>
              </a:rPr>
              <a:t> and </a:t>
            </a:r>
            <a:r>
              <a:rPr lang="en-US" sz="2000" b="1" dirty="0">
                <a:latin typeface="Franklin Gothic Book" panose="020B0503020102020204" pitchFamily="34" charset="0"/>
              </a:rPr>
              <a:t>POD-NN</a:t>
            </a:r>
            <a:r>
              <a:rPr lang="en-US" sz="2000" dirty="0">
                <a:latin typeface="Franklin Gothic Book" panose="020B0503020102020204" pitchFamily="34" charset="0"/>
              </a:rPr>
              <a:t> offer remarkable advantages in computational speed.</a:t>
            </a:r>
            <a:endParaRPr lang="it-IT" sz="2000" b="1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382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D770F535-227A-CABA-3224-661249863A7D}"/>
              </a:ext>
            </a:extLst>
          </p:cNvPr>
          <p:cNvSpPr txBox="1">
            <a:spLocks/>
          </p:cNvSpPr>
          <p:nvPr/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000" b="1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Thank you for listening</a:t>
            </a:r>
            <a:endParaRPr kumimoji="0" lang="it-IT" sz="60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AEA8751-4A99-C103-D48C-B748037D71E9}"/>
              </a:ext>
            </a:extLst>
          </p:cNvPr>
          <p:cNvSpPr/>
          <p:nvPr/>
        </p:nvSpPr>
        <p:spPr>
          <a:xfrm>
            <a:off x="6309904" y="3889311"/>
            <a:ext cx="2548035" cy="102636"/>
          </a:xfrm>
          <a:prstGeom prst="rect">
            <a:avLst/>
          </a:prstGeom>
          <a:solidFill>
            <a:srgbClr val="3B4684"/>
          </a:solidFill>
          <a:ln w="12700" cap="flat" cmpd="sng" algn="ctr">
            <a:solidFill>
              <a:srgbClr val="3B46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FB3B730A-DE11-5FC0-999B-F6CC28BB616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149646" y="729342"/>
            <a:ext cx="6501198" cy="7792076"/>
            <a:chOff x="-1149646" y="729342"/>
            <a:chExt cx="6501198" cy="7792076"/>
          </a:xfrm>
        </p:grpSpPr>
        <p:pic>
          <p:nvPicPr>
            <p:cNvPr id="7" name="Immagine 6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76C4AC2F-999E-BB9E-3503-60A748594B1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740"/>
            <a:stretch>
              <a:fillRect/>
            </a:stretch>
          </p:blipFill>
          <p:spPr>
            <a:xfrm rot="8121046">
              <a:off x="2651910" y="5515479"/>
              <a:ext cx="2699642" cy="2685042"/>
            </a:xfrm>
            <a:prstGeom prst="rect">
              <a:avLst/>
            </a:prstGeom>
          </p:spPr>
        </p:pic>
        <p:pic>
          <p:nvPicPr>
            <p:cNvPr id="8" name="Immagine 7" descr="Immagine che contiene modello, Policromia, Simmetria, arte&#10;&#10;Il contenuto generato dall'IA potrebbe non essere corretto.">
              <a:extLst>
                <a:ext uri="{FF2B5EF4-FFF2-40B4-BE49-F238E27FC236}">
                  <a16:creationId xmlns:a16="http://schemas.microsoft.com/office/drawing/2014/main" id="{0493B8AF-B06F-C348-B590-8765FDFBBBF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00095">
              <a:off x="-1409200" y="5576055"/>
              <a:ext cx="3204917" cy="2685810"/>
            </a:xfrm>
            <a:prstGeom prst="rect">
              <a:avLst/>
            </a:prstGeom>
          </p:spPr>
        </p:pic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6097AC23-8CE9-A57E-2B33-EF3B4978C03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333032">
              <a:off x="-186582" y="729342"/>
              <a:ext cx="2878566" cy="4119499"/>
              <a:chOff x="-185007" y="513511"/>
              <a:chExt cx="2878566" cy="4119499"/>
            </a:xfrm>
          </p:grpSpPr>
          <p:pic>
            <p:nvPicPr>
              <p:cNvPr id="10" name="Immagine 9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AB04A1DC-851E-420F-EBCC-DC67529B68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b="32322"/>
              <a:stretch>
                <a:fillRect/>
              </a:stretch>
            </p:blipFill>
            <p:spPr>
              <a:xfrm rot="13754411">
                <a:off x="-1082980" y="1411484"/>
                <a:ext cx="3169066" cy="1373119"/>
              </a:xfrm>
              <a:prstGeom prst="rect">
                <a:avLst/>
              </a:prstGeom>
            </p:spPr>
          </p:pic>
          <p:pic>
            <p:nvPicPr>
              <p:cNvPr id="11" name="Immagine 10" descr="Immagine che contiene modello, Policromia, Simmetria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707B3AD4-5940-2AF3-86B6-A4DBA171EB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54" r="51285" b="32322"/>
              <a:stretch>
                <a:fillRect/>
              </a:stretch>
            </p:blipFill>
            <p:spPr>
              <a:xfrm rot="2992840" flipV="1">
                <a:off x="1235093" y="3174543"/>
                <a:ext cx="1543814" cy="13731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500156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b">
        <a:normAutofit/>
      </a:bodyPr>
      <a:lstStyle>
        <a:defPPr algn="l">
          <a:defRPr b="1" dirty="0" smtClean="0">
            <a:latin typeface="Franklin Gothic Demi" panose="020B07030201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4172</TotalTime>
  <Words>563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Franklin Gothic Book</vt:lpstr>
      <vt:lpstr>Franklin Gothic Demi</vt:lpstr>
      <vt:lpstr>Tema di Office</vt:lpstr>
      <vt:lpstr>Presentazione standard di PowerPoint</vt:lpstr>
      <vt:lpstr>Problem Definition</vt:lpstr>
      <vt:lpstr>Motivation &amp; Goal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Gaia Saroglia</dc:creator>
  <cp:lastModifiedBy>Gaia Saroglia</cp:lastModifiedBy>
  <cp:revision>14</cp:revision>
  <dcterms:created xsi:type="dcterms:W3CDTF">2025-09-06T08:40:46Z</dcterms:created>
  <dcterms:modified xsi:type="dcterms:W3CDTF">2025-09-09T08:01:35Z</dcterms:modified>
</cp:coreProperties>
</file>